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49" r:id="rId3"/>
    <p:sldId id="371" r:id="rId4"/>
    <p:sldId id="367" r:id="rId5"/>
    <p:sldId id="368" r:id="rId6"/>
    <p:sldId id="350" r:id="rId7"/>
    <p:sldId id="351" r:id="rId8"/>
    <p:sldId id="369" r:id="rId9"/>
    <p:sldId id="370" r:id="rId10"/>
    <p:sldId id="366" r:id="rId11"/>
    <p:sldId id="352" r:id="rId12"/>
    <p:sldId id="353" r:id="rId13"/>
    <p:sldId id="354" r:id="rId14"/>
    <p:sldId id="356" r:id="rId15"/>
    <p:sldId id="357" r:id="rId16"/>
    <p:sldId id="358" r:id="rId17"/>
    <p:sldId id="372" r:id="rId18"/>
    <p:sldId id="373" r:id="rId19"/>
    <p:sldId id="374" r:id="rId20"/>
    <p:sldId id="375" r:id="rId21"/>
    <p:sldId id="317" r:id="rId22"/>
    <p:sldId id="376" r:id="rId23"/>
    <p:sldId id="377" r:id="rId24"/>
    <p:sldId id="363" r:id="rId25"/>
    <p:sldId id="365" r:id="rId26"/>
    <p:sldId id="378" r:id="rId27"/>
    <p:sldId id="360" r:id="rId28"/>
    <p:sldId id="361" r:id="rId29"/>
    <p:sldId id="326" r:id="rId30"/>
    <p:sldId id="344" r:id="rId31"/>
    <p:sldId id="36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132"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79DE-8E9F-ED9E-E311-D7F2FE9DFC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30A628-DD85-3F15-3FE2-D05534EED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3D0C40-F5D0-B2D3-0359-290C3AAAB0B5}"/>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5" name="Footer Placeholder 4">
            <a:extLst>
              <a:ext uri="{FF2B5EF4-FFF2-40B4-BE49-F238E27FC236}">
                <a16:creationId xmlns:a16="http://schemas.microsoft.com/office/drawing/2014/main" id="{56DD5D08-687D-40CD-350E-16C07CD312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2D2213-0FC2-D4B7-DB62-BDC23A723C32}"/>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2081016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4F66B-D266-C36C-8DFF-6FBC6DB4DF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9389AE-4A33-12C4-524A-FE788505DF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7C0838-35BD-17C2-6EEB-6A137440C661}"/>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5" name="Footer Placeholder 4">
            <a:extLst>
              <a:ext uri="{FF2B5EF4-FFF2-40B4-BE49-F238E27FC236}">
                <a16:creationId xmlns:a16="http://schemas.microsoft.com/office/drawing/2014/main" id="{D5A7B0DD-1AF5-FC6C-5260-E97715177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66AC97-5100-6C7C-7DB1-3AAE5C79887E}"/>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2520920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E3C2D-184C-35D4-9BCD-20B66D33EA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7AADC7-331D-5A23-95D9-A4346C4132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8014BA-7AD9-F884-3CD7-4B17953F2EEE}"/>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5" name="Footer Placeholder 4">
            <a:extLst>
              <a:ext uri="{FF2B5EF4-FFF2-40B4-BE49-F238E27FC236}">
                <a16:creationId xmlns:a16="http://schemas.microsoft.com/office/drawing/2014/main" id="{ECB885CB-26C3-7DE5-4791-55C9ECC217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632DE1-F0F3-4DA7-8CA0-72BFE4392A40}"/>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1518908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05BC9-1270-E057-EAE8-9F296E85FD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4F1D40-61F8-BFE2-00EC-649871DFD2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8FA8E5-8278-8674-21BC-08FE28075C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385742-FBC2-9B3A-4577-35665F131B5A}"/>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6" name="Footer Placeholder 5">
            <a:extLst>
              <a:ext uri="{FF2B5EF4-FFF2-40B4-BE49-F238E27FC236}">
                <a16:creationId xmlns:a16="http://schemas.microsoft.com/office/drawing/2014/main" id="{434B691C-D123-A9E7-2E5C-5CCA57AD67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BC11E2-81B7-D207-2099-A0D0DED430C9}"/>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69662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74B75-9B2E-79BE-D548-36E22A9159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317D00-C301-15EB-D61A-0F76D47953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E8837E-240C-AA2E-8657-0AE6D3CA88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D893340-6B12-15A9-95F7-2D781A5747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498A37-7367-E5AA-87F7-E68B1A9FA0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2435B4-5863-6E11-5A5C-93CF471929E9}"/>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8" name="Footer Placeholder 7">
            <a:extLst>
              <a:ext uri="{FF2B5EF4-FFF2-40B4-BE49-F238E27FC236}">
                <a16:creationId xmlns:a16="http://schemas.microsoft.com/office/drawing/2014/main" id="{2D0F4F23-7A59-C04F-BE7B-9684A8CEC5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293EF2-7D91-0BC7-A7A0-CE584DB8919E}"/>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3173004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8B374-0B4D-F48F-06BB-C3062EFC13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868E1BE-9906-F883-1207-2796CE874AB8}"/>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4" name="Footer Placeholder 3">
            <a:extLst>
              <a:ext uri="{FF2B5EF4-FFF2-40B4-BE49-F238E27FC236}">
                <a16:creationId xmlns:a16="http://schemas.microsoft.com/office/drawing/2014/main" id="{5CC6CEAA-916E-09A3-A9B1-44A9E7F38D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1AC380-CAE8-FAEE-1372-C9AC70FCE575}"/>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3345018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8CD46A-28B4-555C-675E-E17594D480F1}"/>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3" name="Footer Placeholder 2">
            <a:extLst>
              <a:ext uri="{FF2B5EF4-FFF2-40B4-BE49-F238E27FC236}">
                <a16:creationId xmlns:a16="http://schemas.microsoft.com/office/drawing/2014/main" id="{5CC1E61B-AED3-2F8B-D72E-EF8D6EF43C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E75980-D513-194A-3323-F8DBA2EEACAB}"/>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4283072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03C6C-8D47-7092-69D9-5F74C1D204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6C9875-6C5C-D974-7115-BEBEC32D80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3A215E-4A97-DEBB-71C8-D9BE92AA8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FB0D52-9934-94DC-6BEC-5E61703DB68C}"/>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6" name="Footer Placeholder 5">
            <a:extLst>
              <a:ext uri="{FF2B5EF4-FFF2-40B4-BE49-F238E27FC236}">
                <a16:creationId xmlns:a16="http://schemas.microsoft.com/office/drawing/2014/main" id="{81E3CB3E-36B4-2B2E-DB5D-35E78D0BCD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5DD84C-0AD0-3254-6FD0-1D59B05BF3E1}"/>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2904290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F2910-3EAD-2047-BAEA-E46188EB15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39EBEA-8090-1149-61D9-60968CC76A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67BCEC-3A92-62D1-BC0D-4E341A37B5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D79E6-394C-9D10-9177-17A23D69B116}"/>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6" name="Footer Placeholder 5">
            <a:extLst>
              <a:ext uri="{FF2B5EF4-FFF2-40B4-BE49-F238E27FC236}">
                <a16:creationId xmlns:a16="http://schemas.microsoft.com/office/drawing/2014/main" id="{8BF3CC8A-DF86-03CA-0C3D-550B202107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1FFDD9-1415-3B6F-AAF1-4F7BA67C3B1B}"/>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215960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EC95E-1BCC-CCC7-442F-5BB60A539DB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F9C810-804A-56C5-690F-2D1DD8BF31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246B3-7DF3-B5DF-682C-ABD222F65F3B}"/>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5" name="Footer Placeholder 4">
            <a:extLst>
              <a:ext uri="{FF2B5EF4-FFF2-40B4-BE49-F238E27FC236}">
                <a16:creationId xmlns:a16="http://schemas.microsoft.com/office/drawing/2014/main" id="{CE2DEA54-B5FA-1B4B-7A86-E127B06813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5E8D0-7D22-3A50-ED41-4898637DDC76}"/>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50892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8C6FC-FD12-903D-1FC7-AC33EC9DA7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F7B303-97F8-6197-61BA-62D7875C17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C38D5B-5C7D-CF95-A44D-7C96764D6BC3}"/>
              </a:ext>
            </a:extLst>
          </p:cNvPr>
          <p:cNvSpPr>
            <a:spLocks noGrp="1"/>
          </p:cNvSpPr>
          <p:nvPr>
            <p:ph type="dt" sz="half" idx="10"/>
          </p:nvPr>
        </p:nvSpPr>
        <p:spPr/>
        <p:txBody>
          <a:bodyPr/>
          <a:lstStyle/>
          <a:p>
            <a:fld id="{EE1360C5-0C2B-46F2-B47E-DA007D6D5BDC}" type="datetimeFigureOut">
              <a:rPr lang="en-IN" smtClean="0"/>
              <a:t>23-07-2026</a:t>
            </a:fld>
            <a:endParaRPr lang="en-IN"/>
          </a:p>
        </p:txBody>
      </p:sp>
      <p:sp>
        <p:nvSpPr>
          <p:cNvPr id="5" name="Footer Placeholder 4">
            <a:extLst>
              <a:ext uri="{FF2B5EF4-FFF2-40B4-BE49-F238E27FC236}">
                <a16:creationId xmlns:a16="http://schemas.microsoft.com/office/drawing/2014/main" id="{3E585FC7-2418-680D-12CE-3928A6515D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5B7667-84F0-102B-DA23-66B0F0F4EA69}"/>
              </a:ext>
            </a:extLst>
          </p:cNvPr>
          <p:cNvSpPr>
            <a:spLocks noGrp="1"/>
          </p:cNvSpPr>
          <p:nvPr>
            <p:ph type="sldNum" sz="quarter" idx="12"/>
          </p:nvPr>
        </p:nvSpPr>
        <p:spPr/>
        <p:txBody>
          <a:bodyPr/>
          <a:lstStyle/>
          <a:p>
            <a:fld id="{D823BBBE-703E-4645-AFA1-19FB8411A638}" type="slidenum">
              <a:rPr lang="en-IN" smtClean="0"/>
              <a:t>‹#›</a:t>
            </a:fld>
            <a:endParaRPr lang="en-IN"/>
          </a:p>
        </p:txBody>
      </p:sp>
    </p:spTree>
    <p:extLst>
      <p:ext uri="{BB962C8B-B14F-4D97-AF65-F5344CB8AC3E}">
        <p14:creationId xmlns:p14="http://schemas.microsoft.com/office/powerpoint/2010/main" val="825972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E1D723-8F53-4F53-90B0-1982A396982E}" type="datetime1">
              <a:rPr kumimoji="0" lang="en-US" sz="900" b="0" i="0" u="none" strike="noStrike" kern="1200" cap="none" spc="0" normalizeH="0" baseline="0" noProof="0" smtClean="0">
                <a:ln>
                  <a:noFill/>
                </a:ln>
                <a:solidFill>
                  <a:srgbClr val="FFFFFF"/>
                </a:solidFill>
                <a:effectLst/>
                <a:uLnTx/>
                <a:uFillTx/>
                <a:latin typeface="Speak Pro"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900" b="0" i="0" u="none" strike="noStrike" kern="1200" cap="none" spc="0" normalizeH="0" baseline="0" noProof="0" dirty="0">
              <a:ln>
                <a:noFill/>
              </a:ln>
              <a:solidFill>
                <a:srgbClr val="FFFFFF"/>
              </a:solidFill>
              <a:effectLst/>
              <a:uLnTx/>
              <a:uFillTx/>
              <a:latin typeface="Speak Pro" panose="020F0502020204030204"/>
              <a:ea typeface="+mn-ea"/>
              <a:cs typeface="+mn-cs"/>
            </a:endParaRPr>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all" spc="0" normalizeH="0" baseline="0" noProof="0" dirty="0">
              <a:ln>
                <a:noFill/>
              </a:ln>
              <a:solidFill>
                <a:srgbClr val="FFFFFF"/>
              </a:solidFill>
              <a:effectLst/>
              <a:uLnTx/>
              <a:uFillTx/>
              <a:latin typeface="Speak Pro" panose="020F0502020204030204"/>
              <a:ea typeface="+mn-ea"/>
              <a:cs typeface="+mn-cs"/>
            </a:endParaRPr>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A98EE3D-8CD1-4C3F-BD1C-C98C9596463C}" type="slidenum">
              <a:rPr kumimoji="0" lang="en-US" sz="900" b="0" i="0" u="none" strike="noStrike" kern="1200" cap="none" spc="0" normalizeH="0" baseline="0" noProof="0" smtClean="0">
                <a:ln>
                  <a:noFill/>
                </a:ln>
                <a:solidFill>
                  <a:srgbClr val="FFFFFF"/>
                </a:solidFill>
                <a:effectLst/>
                <a:uLnTx/>
                <a:uFillTx/>
                <a:latin typeface="Speak Pro"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FFFFFF"/>
              </a:solidFill>
              <a:effectLst/>
              <a:uLnTx/>
              <a:uFillTx/>
              <a:latin typeface="Speak Pro" panose="020F0502020204030204"/>
              <a:ea typeface="+mn-ea"/>
              <a:cs typeface="+mn-cs"/>
            </a:endParaRPr>
          </a:p>
        </p:txBody>
      </p:sp>
    </p:spTree>
    <p:extLst>
      <p:ext uri="{BB962C8B-B14F-4D97-AF65-F5344CB8AC3E}">
        <p14:creationId xmlns:p14="http://schemas.microsoft.com/office/powerpoint/2010/main" val="857368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7/23/2026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91473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7/23/2026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9513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296646-8AF1-BAA2-0C41-67596A270E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C6F1F0-46B0-1164-7B92-62169FB0B0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7A3A0B-0599-12F9-79B7-722F69F1B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1360C5-0C2B-46F2-B47E-DA007D6D5BDC}" type="datetimeFigureOut">
              <a:rPr lang="en-IN" smtClean="0"/>
              <a:t>23-07-2026</a:t>
            </a:fld>
            <a:endParaRPr lang="en-IN"/>
          </a:p>
        </p:txBody>
      </p:sp>
      <p:sp>
        <p:nvSpPr>
          <p:cNvPr id="5" name="Footer Placeholder 4">
            <a:extLst>
              <a:ext uri="{FF2B5EF4-FFF2-40B4-BE49-F238E27FC236}">
                <a16:creationId xmlns:a16="http://schemas.microsoft.com/office/drawing/2014/main" id="{B75D18A6-7693-2EFD-CB40-D19B0650BE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EDBBC2-2651-ACCA-7CFD-64C6282327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23BBBE-703E-4645-AFA1-19FB8411A638}" type="slidenum">
              <a:rPr lang="en-IN" smtClean="0"/>
              <a:t>‹#›</a:t>
            </a:fld>
            <a:endParaRPr lang="en-IN"/>
          </a:p>
        </p:txBody>
      </p:sp>
    </p:spTree>
    <p:extLst>
      <p:ext uri="{BB962C8B-B14F-4D97-AF65-F5344CB8AC3E}">
        <p14:creationId xmlns:p14="http://schemas.microsoft.com/office/powerpoint/2010/main" val="3589801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7/23/2026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2535197"/>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book.the-turing-way.org/communication/comms-overview.html" TargetMode="Externa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scientificwritingtips.wordpress.com/the-cartoons/"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uides.library.ucla.edu/c.php?g=223540&amp;p=1480858"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hyperlink" Target="mailto:Purbasha_das@daiict.ac.i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805053" y="1082842"/>
            <a:ext cx="4738018" cy="3051046"/>
          </a:xfrm>
        </p:spPr>
        <p:txBody>
          <a:bodyPr>
            <a:normAutofit/>
          </a:bodyPr>
          <a:lstStyle/>
          <a:p>
            <a:r>
              <a:rPr lang="en-US" sz="4400" b="1" dirty="0" smtClean="0">
                <a:solidFill>
                  <a:srgbClr val="7030A0"/>
                </a:solidFill>
                <a:latin typeface="Baskerville Old Face" panose="02020602080505020303" pitchFamily="18" charset="0"/>
              </a:rPr>
              <a:t>Communication Skills and Technical Writing</a:t>
            </a:r>
            <a:endParaRPr lang="en-US" sz="4400" b="1" dirty="0">
              <a:solidFill>
                <a:srgbClr val="7030A0"/>
              </a:solidFill>
              <a:latin typeface="Baskerville Old Face" panose="02020602080505020303" pitchFamily="18" charset="0"/>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dirty="0" smtClean="0"/>
              <a:t>   Course </a:t>
            </a:r>
            <a:r>
              <a:rPr lang="en-US" dirty="0"/>
              <a:t>code: Pc 512 </a:t>
            </a:r>
          </a:p>
        </p:txBody>
      </p:sp>
      <p:cxnSp>
        <p:nvCxnSpPr>
          <p:cNvPr id="26" name="Straight Connector 25">
            <a:extLst>
              <a:ext uri="{FF2B5EF4-FFF2-40B4-BE49-F238E27FC236}">
                <a16:creationId xmlns:a16="http://schemas.microsoft.com/office/drawing/2014/main" id="{D28A9C89-B313-458F-9C85-515930A51A93}"/>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697302" y="1384917"/>
            <a:ext cx="6032697" cy="3542189"/>
          </a:xfrm>
          <a:prstGeom prst="rect">
            <a:avLst/>
          </a:prstGeom>
        </p:spPr>
      </p:pic>
    </p:spTree>
    <p:extLst>
      <p:ext uri="{BB962C8B-B14F-4D97-AF65-F5344CB8AC3E}">
        <p14:creationId xmlns:p14="http://schemas.microsoft.com/office/powerpoint/2010/main" val="1013651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AB8D2-E623-12FA-E2EA-1AB2540DBE87}"/>
              </a:ext>
            </a:extLst>
          </p:cNvPr>
          <p:cNvSpPr>
            <a:spLocks noGrp="1"/>
          </p:cNvSpPr>
          <p:nvPr>
            <p:ph type="title"/>
          </p:nvPr>
        </p:nvSpPr>
        <p:spPr/>
        <p:txBody>
          <a:bodyPr/>
          <a:lstStyle/>
          <a:p>
            <a:r>
              <a:rPr lang="en-US" dirty="0">
                <a:latin typeface="Georgia" panose="02040502050405020303" pitchFamily="18" charset="0"/>
              </a:rPr>
              <a:t>Aim of the course </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C12EC4F7-7500-F81F-CF35-B67CDBE01211}"/>
              </a:ext>
            </a:extLst>
          </p:cNvPr>
          <p:cNvSpPr>
            <a:spLocks noGrp="1"/>
          </p:cNvSpPr>
          <p:nvPr>
            <p:ph idx="1"/>
          </p:nvPr>
        </p:nvSpPr>
        <p:spPr>
          <a:xfrm>
            <a:off x="642257" y="1556657"/>
            <a:ext cx="10711543" cy="4620306"/>
          </a:xfrm>
        </p:spPr>
        <p:txBody>
          <a:bodyPr>
            <a:normAutofit fontScale="92500" lnSpcReduction="20000"/>
          </a:bodyPr>
          <a:lstStyle/>
          <a:p>
            <a:endParaRPr lang="en-US" dirty="0"/>
          </a:p>
          <a:p>
            <a:pPr>
              <a:lnSpc>
                <a:spcPct val="150000"/>
              </a:lnSpc>
            </a:pPr>
            <a:r>
              <a:rPr lang="en-US" dirty="0"/>
              <a:t> </a:t>
            </a:r>
            <a:r>
              <a:rPr lang="en-US" sz="3200" dirty="0">
                <a:latin typeface="Georgia" panose="02040502050405020303" pitchFamily="18" charset="0"/>
              </a:rPr>
              <a:t>Equip </a:t>
            </a:r>
            <a:r>
              <a:rPr lang="en-US" sz="3200" dirty="0" smtClean="0">
                <a:latin typeface="Georgia" panose="02040502050405020303" pitchFamily="18" charset="0"/>
              </a:rPr>
              <a:t>students </a:t>
            </a:r>
            <a:r>
              <a:rPr lang="en-US" sz="3200" dirty="0">
                <a:latin typeface="Georgia" panose="02040502050405020303" pitchFamily="18" charset="0"/>
              </a:rPr>
              <a:t>with </a:t>
            </a:r>
            <a:r>
              <a:rPr lang="en-US" sz="3200" dirty="0" smtClean="0">
                <a:latin typeface="Georgia" panose="02040502050405020303" pitchFamily="18" charset="0"/>
              </a:rPr>
              <a:t>the communication skills required to succeed in  </a:t>
            </a:r>
            <a:r>
              <a:rPr lang="en-US" sz="3200" dirty="0">
                <a:latin typeface="Georgia" panose="02040502050405020303" pitchFamily="18" charset="0"/>
              </a:rPr>
              <a:t>professional </a:t>
            </a:r>
            <a:r>
              <a:rPr lang="en-US" sz="3200" dirty="0" smtClean="0">
                <a:latin typeface="Georgia" panose="02040502050405020303" pitchFamily="18" charset="0"/>
              </a:rPr>
              <a:t>and workplace settings. </a:t>
            </a:r>
            <a:endParaRPr lang="en-US" sz="3200" dirty="0">
              <a:latin typeface="Georgia" panose="02040502050405020303" pitchFamily="18" charset="0"/>
            </a:endParaRPr>
          </a:p>
          <a:p>
            <a:pPr>
              <a:lnSpc>
                <a:spcPct val="150000"/>
              </a:lnSpc>
            </a:pPr>
            <a:r>
              <a:rPr lang="en-US" sz="3200" dirty="0" smtClean="0">
                <a:latin typeface="Georgia" panose="02040502050405020303" pitchFamily="18" charset="0"/>
              </a:rPr>
              <a:t>Develop the ability to deliver, clear, confident and effective presentations to both technical and non-technical audiences. </a:t>
            </a:r>
            <a:endParaRPr lang="en-US" sz="3200" dirty="0">
              <a:latin typeface="Georgia" panose="02040502050405020303" pitchFamily="18" charset="0"/>
            </a:endParaRPr>
          </a:p>
          <a:p>
            <a:pPr>
              <a:lnSpc>
                <a:spcPct val="150000"/>
              </a:lnSpc>
            </a:pPr>
            <a:r>
              <a:rPr lang="en-US" sz="3200" dirty="0">
                <a:latin typeface="Georgia" panose="02040502050405020303" pitchFamily="18" charset="0"/>
              </a:rPr>
              <a:t> </a:t>
            </a:r>
            <a:r>
              <a:rPr lang="en-US" sz="3200" dirty="0" smtClean="0">
                <a:latin typeface="Georgia" panose="02040502050405020303" pitchFamily="18" charset="0"/>
              </a:rPr>
              <a:t>Introduce students to the principles and various forms of technical writing used in academic and professional contexts.  </a:t>
            </a:r>
            <a:endParaRPr lang="en-US" sz="3200" dirty="0">
              <a:latin typeface="Georgia" panose="02040502050405020303" pitchFamily="18" charset="0"/>
            </a:endParaRPr>
          </a:p>
          <a:p>
            <a:pPr>
              <a:lnSpc>
                <a:spcPct val="150000"/>
              </a:lnSpc>
            </a:pPr>
            <a:endParaRPr lang="en-US" sz="3200" dirty="0">
              <a:latin typeface="Georgia" panose="02040502050405020303" pitchFamily="18" charset="0"/>
            </a:endParaRPr>
          </a:p>
          <a:p>
            <a:endParaRPr lang="en-IN" dirty="0"/>
          </a:p>
        </p:txBody>
      </p:sp>
    </p:spTree>
    <p:extLst>
      <p:ext uri="{BB962C8B-B14F-4D97-AF65-F5344CB8AC3E}">
        <p14:creationId xmlns:p14="http://schemas.microsoft.com/office/powerpoint/2010/main" val="144176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34322" y="2565647"/>
            <a:ext cx="6658253" cy="954107"/>
          </a:xfrm>
          <a:prstGeom prst="rect">
            <a:avLst/>
          </a:prstGeom>
        </p:spPr>
        <p:txBody>
          <a:bodyPr wrap="square">
            <a:spAutoFit/>
          </a:bodyPr>
          <a:lstStyle/>
          <a:p>
            <a:r>
              <a:rPr lang="en-US" sz="2800" b="1" dirty="0" smtClean="0">
                <a:solidFill>
                  <a:schemeClr val="accent6">
                    <a:lumMod val="75000"/>
                  </a:schemeClr>
                </a:solidFill>
                <a:latin typeface="Baskerville Old Face" panose="02020602080505020303" pitchFamily="18" charset="0"/>
              </a:rPr>
              <a:t>“Communication </a:t>
            </a:r>
            <a:r>
              <a:rPr lang="en-US" sz="2800" b="1" dirty="0">
                <a:solidFill>
                  <a:schemeClr val="accent6">
                    <a:lumMod val="75000"/>
                  </a:schemeClr>
                </a:solidFill>
                <a:latin typeface="Baskerville Old Face" panose="02020602080505020303" pitchFamily="18" charset="0"/>
              </a:rPr>
              <a:t>is more important </a:t>
            </a:r>
            <a:r>
              <a:rPr lang="en-US" sz="2800" b="1" dirty="0" smtClean="0">
                <a:solidFill>
                  <a:schemeClr val="accent6">
                    <a:lumMod val="75000"/>
                  </a:schemeClr>
                </a:solidFill>
                <a:latin typeface="Baskerville Old Face" panose="02020602080505020303" pitchFamily="18" charset="0"/>
              </a:rPr>
              <a:t>than technical knowledge?” Agree or disagree </a:t>
            </a:r>
            <a:endParaRPr lang="en-IN" sz="2800" b="1" dirty="0">
              <a:solidFill>
                <a:schemeClr val="accent6">
                  <a:lumMod val="75000"/>
                </a:schemeClr>
              </a:solidFill>
              <a:latin typeface="Baskerville Old Face" panose="02020602080505020303" pitchFamily="18" charset="0"/>
            </a:endParaRPr>
          </a:p>
        </p:txBody>
      </p:sp>
    </p:spTree>
    <p:extLst>
      <p:ext uri="{BB962C8B-B14F-4D97-AF65-F5344CB8AC3E}">
        <p14:creationId xmlns:p14="http://schemas.microsoft.com/office/powerpoint/2010/main" val="2378032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skerville Old Face" panose="02020602080505020303" pitchFamily="18" charset="0"/>
              </a:rPr>
              <a:t>Describe the picture</a:t>
            </a:r>
            <a:endParaRPr lang="en-IN" dirty="0">
              <a:latin typeface="Baskerville Old Face" panose="02020602080505020303" pitchFamily="18" charset="0"/>
            </a:endParaRPr>
          </a:p>
        </p:txBody>
      </p:sp>
      <p:sp>
        <p:nvSpPr>
          <p:cNvPr id="3" name="Content Placeholder 2"/>
          <p:cNvSpPr>
            <a:spLocks noGrp="1"/>
          </p:cNvSpPr>
          <p:nvPr>
            <p:ph idx="1"/>
          </p:nvPr>
        </p:nvSpPr>
        <p:spPr>
          <a:xfrm>
            <a:off x="491971" y="1878891"/>
            <a:ext cx="5349536" cy="4351338"/>
          </a:xfrm>
        </p:spPr>
        <p:txBody>
          <a:bodyPr/>
          <a:lstStyle/>
          <a:p>
            <a:r>
              <a:rPr lang="en-US" dirty="0" smtClean="0">
                <a:latin typeface="Baskerville Old Face" panose="02020602080505020303" pitchFamily="18" charset="0"/>
              </a:rPr>
              <a:t>One student will take a look at the picture.</a:t>
            </a:r>
          </a:p>
          <a:p>
            <a:r>
              <a:rPr lang="en-US" dirty="0" smtClean="0">
                <a:latin typeface="Baskerville Old Face" panose="02020602080505020303" pitchFamily="18" charset="0"/>
              </a:rPr>
              <a:t>He/she will describe the picture-the shape, </a:t>
            </a:r>
            <a:r>
              <a:rPr lang="en-US" dirty="0" err="1" smtClean="0">
                <a:latin typeface="Baskerville Old Face" panose="02020602080505020303" pitchFamily="18" charset="0"/>
              </a:rPr>
              <a:t>colour</a:t>
            </a:r>
            <a:r>
              <a:rPr lang="en-US" dirty="0" smtClean="0">
                <a:latin typeface="Baskerville Old Face" panose="02020602080505020303" pitchFamily="18" charset="0"/>
              </a:rPr>
              <a:t>, usability etc. </a:t>
            </a:r>
          </a:p>
          <a:p>
            <a:r>
              <a:rPr lang="en-US" dirty="0" smtClean="0">
                <a:latin typeface="Baskerville Old Face" panose="02020602080505020303" pitchFamily="18" charset="0"/>
              </a:rPr>
              <a:t>The other students have to guess the image in 5 minutes. </a:t>
            </a:r>
            <a:endParaRPr lang="en-IN" dirty="0">
              <a:latin typeface="Baskerville Old Face" panose="02020602080505020303" pitchFamily="18" charset="0"/>
            </a:endParaRPr>
          </a:p>
        </p:txBody>
      </p:sp>
      <p:pic>
        <p:nvPicPr>
          <p:cNvPr id="4" name="Picture 3"/>
          <p:cNvPicPr>
            <a:picLocks noChangeAspect="1"/>
          </p:cNvPicPr>
          <p:nvPr/>
        </p:nvPicPr>
        <p:blipFill>
          <a:blip r:embed="rId2"/>
          <a:stretch>
            <a:fillRect/>
          </a:stretch>
        </p:blipFill>
        <p:spPr>
          <a:xfrm>
            <a:off x="5696984" y="2565646"/>
            <a:ext cx="6176716" cy="1921645"/>
          </a:xfrm>
          <a:prstGeom prst="rect">
            <a:avLst/>
          </a:prstGeom>
        </p:spPr>
      </p:pic>
    </p:spTree>
    <p:extLst>
      <p:ext uri="{BB962C8B-B14F-4D97-AF65-F5344CB8AC3E}">
        <p14:creationId xmlns:p14="http://schemas.microsoft.com/office/powerpoint/2010/main" val="2137620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CCE80-D5A9-7E93-4262-8EC29C5D2E6F}"/>
              </a:ext>
            </a:extLst>
          </p:cNvPr>
          <p:cNvSpPr>
            <a:spLocks noGrp="1"/>
          </p:cNvSpPr>
          <p:nvPr>
            <p:ph type="title"/>
          </p:nvPr>
        </p:nvSpPr>
        <p:spPr/>
        <p:txBody>
          <a:bodyPr/>
          <a:lstStyle/>
          <a:p>
            <a:r>
              <a:rPr lang="en-IN" dirty="0">
                <a:latin typeface="Georgia" panose="02040502050405020303" pitchFamily="18" charset="0"/>
              </a:rPr>
              <a:t>          </a:t>
            </a:r>
            <a:r>
              <a:rPr lang="en-IN" dirty="0" smtClean="0">
                <a:latin typeface="Georgia" panose="02040502050405020303" pitchFamily="18" charset="0"/>
              </a:rPr>
              <a:t>I</a:t>
            </a:r>
            <a:r>
              <a:rPr lang="en-IN" dirty="0">
                <a:latin typeface="Georgia" panose="02040502050405020303" pitchFamily="18" charset="0"/>
              </a:rPr>
              <a:t>.  What is communication?</a:t>
            </a:r>
          </a:p>
        </p:txBody>
      </p:sp>
      <p:sp>
        <p:nvSpPr>
          <p:cNvPr id="3" name="Content Placeholder 2">
            <a:extLst>
              <a:ext uri="{FF2B5EF4-FFF2-40B4-BE49-F238E27FC236}">
                <a16:creationId xmlns:a16="http://schemas.microsoft.com/office/drawing/2014/main" id="{EA58B7B4-CDD5-F61F-944C-21E97DFB79BE}"/>
              </a:ext>
            </a:extLst>
          </p:cNvPr>
          <p:cNvSpPr>
            <a:spLocks noGrp="1"/>
          </p:cNvSpPr>
          <p:nvPr>
            <p:ph idx="1"/>
          </p:nvPr>
        </p:nvSpPr>
        <p:spPr>
          <a:xfrm>
            <a:off x="1097280" y="2108201"/>
            <a:ext cx="10408920" cy="3760891"/>
          </a:xfrm>
        </p:spPr>
        <p:txBody>
          <a:bodyPr>
            <a:normAutofit/>
          </a:bodyPr>
          <a:lstStyle/>
          <a:p>
            <a:r>
              <a:rPr lang="en-IN" sz="2400" dirty="0">
                <a:latin typeface="Times New Roman" panose="02020603050405020304" pitchFamily="18" charset="0"/>
                <a:cs typeface="Times New Roman" panose="02020603050405020304" pitchFamily="18" charset="0"/>
              </a:rPr>
              <a:t>Noun. </a:t>
            </a:r>
            <a:r>
              <a:rPr lang="en-US" sz="2400" dirty="0">
                <a:latin typeface="Times New Roman" panose="02020603050405020304" pitchFamily="18" charset="0"/>
                <a:cs typeface="Times New Roman" panose="02020603050405020304" pitchFamily="18" charset="0"/>
              </a:rPr>
              <a:t>[uncountable] the activity or process of expressing ideas and feelings or of giving people </a:t>
            </a:r>
            <a:r>
              <a:rPr lang="en-US" sz="2400" dirty="0" smtClean="0">
                <a:latin typeface="Times New Roman" panose="02020603050405020304" pitchFamily="18" charset="0"/>
                <a:cs typeface="Times New Roman" panose="02020603050405020304" pitchFamily="18" charset="0"/>
              </a:rPr>
              <a:t>information.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Examples: </a:t>
            </a:r>
          </a:p>
          <a:p>
            <a:r>
              <a:rPr lang="en-US" sz="2400" dirty="0">
                <a:latin typeface="Times New Roman" panose="02020603050405020304" pitchFamily="18" charset="0"/>
                <a:cs typeface="Times New Roman" panose="02020603050405020304" pitchFamily="18" charset="0"/>
              </a:rPr>
              <a:t>1) Speech is the fastest method of communication between people. </a:t>
            </a:r>
          </a:p>
          <a:p>
            <a:r>
              <a:rPr lang="en-US" sz="2400" dirty="0">
                <a:latin typeface="Times New Roman" panose="02020603050405020304" pitchFamily="18" charset="0"/>
                <a:cs typeface="Times New Roman" panose="02020603050405020304" pitchFamily="18" charset="0"/>
              </a:rPr>
              <a:t>2)  Doctors do not always have good communication skills.</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85821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80293-9A86-1165-C2B4-8AAE915B9A67}"/>
              </a:ext>
            </a:extLst>
          </p:cNvPr>
          <p:cNvSpPr>
            <a:spLocks noGrp="1"/>
          </p:cNvSpPr>
          <p:nvPr>
            <p:ph type="title"/>
          </p:nvPr>
        </p:nvSpPr>
        <p:spPr/>
        <p:txBody>
          <a:bodyPr/>
          <a:lstStyle/>
          <a:p>
            <a:r>
              <a:rPr lang="en-IN" dirty="0">
                <a:latin typeface="Georgia" panose="02040502050405020303" pitchFamily="18" charset="0"/>
              </a:rPr>
              <a:t>II. Communication as a countable noun </a:t>
            </a:r>
          </a:p>
        </p:txBody>
      </p:sp>
      <p:sp>
        <p:nvSpPr>
          <p:cNvPr id="3" name="Content Placeholder 2">
            <a:extLst>
              <a:ext uri="{FF2B5EF4-FFF2-40B4-BE49-F238E27FC236}">
                <a16:creationId xmlns:a16="http://schemas.microsoft.com/office/drawing/2014/main" id="{9E305360-D65C-FDBF-AFAC-FEEAF80E513C}"/>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[countable] (formal):  a message, </a:t>
            </a:r>
            <a:r>
              <a:rPr lang="en-US" sz="2800" dirty="0" smtClean="0">
                <a:latin typeface="Times New Roman" panose="02020603050405020304" pitchFamily="18" charset="0"/>
                <a:cs typeface="Times New Roman" panose="02020603050405020304" pitchFamily="18" charset="0"/>
              </a:rPr>
              <a:t>an email, letter </a:t>
            </a:r>
            <a:r>
              <a:rPr lang="en-US" sz="2800" dirty="0">
                <a:latin typeface="Times New Roman" panose="02020603050405020304" pitchFamily="18" charset="0"/>
                <a:cs typeface="Times New Roman" panose="02020603050405020304" pitchFamily="18" charset="0"/>
              </a:rPr>
              <a:t>or telephone call</a:t>
            </a:r>
          </a:p>
          <a:p>
            <a:r>
              <a:rPr lang="en-US" sz="2800" dirty="0">
                <a:latin typeface="Times New Roman" panose="02020603050405020304" pitchFamily="18" charset="0"/>
                <a:cs typeface="Times New Roman" panose="02020603050405020304" pitchFamily="18" charset="0"/>
              </a:rPr>
              <a:t>Example: a communication from the president of the company.</a:t>
            </a:r>
            <a:endParaRPr lang="en-IN"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651247" y="3707167"/>
            <a:ext cx="2454352" cy="2454352"/>
          </a:xfrm>
          <a:prstGeom prst="rect">
            <a:avLst/>
          </a:prstGeom>
        </p:spPr>
      </p:pic>
      <p:pic>
        <p:nvPicPr>
          <p:cNvPr id="5" name="Picture 4"/>
          <p:cNvPicPr>
            <a:picLocks noChangeAspect="1"/>
          </p:cNvPicPr>
          <p:nvPr/>
        </p:nvPicPr>
        <p:blipFill>
          <a:blip r:embed="rId3"/>
          <a:stretch>
            <a:fillRect/>
          </a:stretch>
        </p:blipFill>
        <p:spPr>
          <a:xfrm>
            <a:off x="4465468" y="3588197"/>
            <a:ext cx="2573322" cy="2573322"/>
          </a:xfrm>
          <a:prstGeom prst="rect">
            <a:avLst/>
          </a:prstGeom>
        </p:spPr>
      </p:pic>
      <p:pic>
        <p:nvPicPr>
          <p:cNvPr id="6" name="Picture 5"/>
          <p:cNvPicPr>
            <a:picLocks noChangeAspect="1"/>
          </p:cNvPicPr>
          <p:nvPr/>
        </p:nvPicPr>
        <p:blipFill>
          <a:blip r:embed="rId4"/>
          <a:stretch>
            <a:fillRect/>
          </a:stretch>
        </p:blipFill>
        <p:spPr>
          <a:xfrm>
            <a:off x="7798293" y="3707167"/>
            <a:ext cx="2077790" cy="2077790"/>
          </a:xfrm>
          <a:prstGeom prst="rect">
            <a:avLst/>
          </a:prstGeom>
        </p:spPr>
      </p:pic>
    </p:spTree>
    <p:extLst>
      <p:ext uri="{BB962C8B-B14F-4D97-AF65-F5344CB8AC3E}">
        <p14:creationId xmlns:p14="http://schemas.microsoft.com/office/powerpoint/2010/main" val="30627747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rot="10800000" flipV="1">
            <a:off x="1189608" y="1926454"/>
            <a:ext cx="10386874" cy="1793290"/>
          </a:xfrm>
        </p:spPr>
        <p:txBody>
          <a:bodyPr/>
          <a:lstStyle/>
          <a:p>
            <a:r>
              <a:rPr lang="en-US" b="1" dirty="0" smtClean="0">
                <a:solidFill>
                  <a:schemeClr val="accent6">
                    <a:lumMod val="75000"/>
                  </a:schemeClr>
                </a:solidFill>
                <a:latin typeface="Baskerville Old Face" panose="02020602080505020303" pitchFamily="18" charset="0"/>
              </a:rPr>
              <a:t>How many times have you communicated today, and how? </a:t>
            </a:r>
            <a:endParaRPr lang="en-IN" b="1" dirty="0">
              <a:solidFill>
                <a:schemeClr val="accent6">
                  <a:lumMod val="75000"/>
                </a:schemeClr>
              </a:solidFill>
              <a:latin typeface="Baskerville Old Face" panose="02020602080505020303" pitchFamily="18" charset="0"/>
            </a:endParaRPr>
          </a:p>
        </p:txBody>
      </p:sp>
    </p:spTree>
    <p:extLst>
      <p:ext uri="{BB962C8B-B14F-4D97-AF65-F5344CB8AC3E}">
        <p14:creationId xmlns:p14="http://schemas.microsoft.com/office/powerpoint/2010/main" val="2246966184"/>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latin typeface="Baskerville Old Face" panose="02020602080505020303" pitchFamily="18" charset="0"/>
              </a:rPr>
              <a:t>Observe the image and answer the following questions </a:t>
            </a:r>
            <a:endParaRPr lang="en-IN" dirty="0">
              <a:latin typeface="Baskerville Old Face" panose="02020602080505020303" pitchFamily="18" charset="0"/>
            </a:endParaRPr>
          </a:p>
        </p:txBody>
      </p:sp>
      <p:sp>
        <p:nvSpPr>
          <p:cNvPr id="5" name="Picture Placeholder 4"/>
          <p:cNvSpPr>
            <a:spLocks noGrp="1"/>
          </p:cNvSpPr>
          <p:nvPr>
            <p:ph type="pic" idx="1"/>
          </p:nvPr>
        </p:nvSpPr>
        <p:spPr/>
      </p:sp>
      <p:sp>
        <p:nvSpPr>
          <p:cNvPr id="6" name="Text Placeholder 5"/>
          <p:cNvSpPr>
            <a:spLocks noGrp="1"/>
          </p:cNvSpPr>
          <p:nvPr>
            <p:ph type="body" sz="half" idx="2"/>
          </p:nvPr>
        </p:nvSpPr>
        <p:spPr>
          <a:xfrm>
            <a:off x="674704" y="2618914"/>
            <a:ext cx="4097322" cy="3250074"/>
          </a:xfrm>
        </p:spPr>
        <p:txBody>
          <a:bodyPr>
            <a:noAutofit/>
          </a:bodyPr>
          <a:lstStyle/>
          <a:p>
            <a:pPr marL="342900" indent="-342900">
              <a:buAutoNum type="arabicParenR"/>
            </a:pPr>
            <a:r>
              <a:rPr lang="en-US" sz="2000" dirty="0" smtClean="0">
                <a:latin typeface="Baskerville Old Face" panose="02020602080505020303" pitchFamily="18" charset="0"/>
              </a:rPr>
              <a:t>What should you communicate?</a:t>
            </a:r>
          </a:p>
          <a:p>
            <a:pPr marL="342900" indent="-342900">
              <a:buAutoNum type="arabicParenR"/>
            </a:pPr>
            <a:r>
              <a:rPr lang="en-US" sz="2000" dirty="0" smtClean="0">
                <a:latin typeface="Baskerville Old Face" panose="02020602080505020303" pitchFamily="18" charset="0"/>
              </a:rPr>
              <a:t>To whom should you communicate?</a:t>
            </a:r>
          </a:p>
          <a:p>
            <a:pPr marL="342900" indent="-342900">
              <a:buAutoNum type="arabicParenR"/>
            </a:pPr>
            <a:r>
              <a:rPr lang="en-US" sz="2000" dirty="0" smtClean="0">
                <a:latin typeface="Baskerville Old Face" panose="02020602080505020303" pitchFamily="18" charset="0"/>
              </a:rPr>
              <a:t>Why should you communicate?</a:t>
            </a:r>
          </a:p>
          <a:p>
            <a:pPr marL="342900" indent="-342900">
              <a:buAutoNum type="arabicParenR"/>
            </a:pPr>
            <a:r>
              <a:rPr lang="en-US" sz="2000" dirty="0" smtClean="0">
                <a:latin typeface="Baskerville Old Face" panose="02020602080505020303" pitchFamily="18" charset="0"/>
              </a:rPr>
              <a:t>When should you communicate?</a:t>
            </a:r>
          </a:p>
          <a:p>
            <a:pPr marL="342900" indent="-342900">
              <a:buAutoNum type="arabicParenR"/>
            </a:pPr>
            <a:r>
              <a:rPr lang="en-US" sz="2000" dirty="0" smtClean="0">
                <a:latin typeface="Baskerville Old Face" panose="02020602080505020303" pitchFamily="18" charset="0"/>
              </a:rPr>
              <a:t>How should you communicate?</a:t>
            </a:r>
          </a:p>
          <a:p>
            <a:pPr marL="342900" indent="-342900">
              <a:buAutoNum type="arabicParenR"/>
            </a:pPr>
            <a:endParaRPr lang="en-IN" sz="2000" dirty="0">
              <a:latin typeface="Baskerville Old Face" panose="02020602080505020303" pitchFamily="18" charset="0"/>
            </a:endParaRPr>
          </a:p>
        </p:txBody>
      </p:sp>
      <p:pic>
        <p:nvPicPr>
          <p:cNvPr id="3" name="Picture 2"/>
          <p:cNvPicPr>
            <a:picLocks noChangeAspect="1"/>
          </p:cNvPicPr>
          <p:nvPr/>
        </p:nvPicPr>
        <p:blipFill>
          <a:blip r:embed="rId2"/>
          <a:stretch>
            <a:fillRect/>
          </a:stretch>
        </p:blipFill>
        <p:spPr>
          <a:xfrm>
            <a:off x="5230813" y="987425"/>
            <a:ext cx="6076950" cy="4572000"/>
          </a:xfrm>
          <a:prstGeom prst="rect">
            <a:avLst/>
          </a:prstGeom>
        </p:spPr>
      </p:pic>
    </p:spTree>
    <p:extLst>
      <p:ext uri="{BB962C8B-B14F-4D97-AF65-F5344CB8AC3E}">
        <p14:creationId xmlns:p14="http://schemas.microsoft.com/office/powerpoint/2010/main" val="3101949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66151" y="1970843"/>
            <a:ext cx="7350710" cy="4154984"/>
          </a:xfrm>
          <a:prstGeom prst="rect">
            <a:avLst/>
          </a:prstGeom>
        </p:spPr>
        <p:txBody>
          <a:bodyPr wrap="square">
            <a:spAutoFit/>
          </a:bodyPr>
          <a:lstStyle/>
          <a:p>
            <a:pPr marL="342900" indent="-342900">
              <a:buFont typeface="+mj-lt"/>
              <a:buAutoNum type="arabicParenR"/>
            </a:pPr>
            <a:r>
              <a:rPr lang="en-US" sz="2400" b="1" dirty="0" smtClean="0">
                <a:latin typeface="Baskerville Old Face" panose="02020602080505020303" pitchFamily="18" charset="0"/>
              </a:rPr>
              <a:t>What?</a:t>
            </a:r>
            <a:r>
              <a:rPr lang="en-US" sz="2400" dirty="0" smtClean="0">
                <a:latin typeface="Baskerville Old Face" panose="02020602080505020303" pitchFamily="18" charset="0"/>
              </a:rPr>
              <a:t> </a:t>
            </a:r>
            <a:r>
              <a:rPr lang="en-US" sz="2400" i="1" dirty="0" smtClean="0">
                <a:solidFill>
                  <a:srgbClr val="FF0000"/>
                </a:solidFill>
                <a:latin typeface="Baskerville Old Face" panose="02020602080505020303" pitchFamily="18" charset="0"/>
              </a:rPr>
              <a:t>Exactly </a:t>
            </a:r>
            <a:r>
              <a:rPr lang="en-US" sz="2400" i="1" dirty="0">
                <a:solidFill>
                  <a:srgbClr val="FF0000"/>
                </a:solidFill>
                <a:latin typeface="Baskerville Old Face" panose="02020602080505020303" pitchFamily="18" charset="0"/>
              </a:rPr>
              <a:t>what is my subject </a:t>
            </a:r>
            <a:r>
              <a:rPr lang="en-US" sz="2400" i="1" dirty="0" smtClean="0">
                <a:solidFill>
                  <a:srgbClr val="FF0000"/>
                </a:solidFill>
                <a:latin typeface="Baskerville Old Face" panose="02020602080505020303" pitchFamily="18" charset="0"/>
              </a:rPr>
              <a:t>matter</a:t>
            </a:r>
            <a:r>
              <a:rPr lang="en-US" sz="2400" i="1" dirty="0">
                <a:solidFill>
                  <a:srgbClr val="FF0000"/>
                </a:solidFill>
                <a:latin typeface="Baskerville Old Face" panose="02020602080505020303" pitchFamily="18" charset="0"/>
              </a:rPr>
              <a:t>.</a:t>
            </a:r>
            <a:endParaRPr lang="en-US" sz="2400" i="1" dirty="0" smtClean="0">
              <a:solidFill>
                <a:srgbClr val="FF0000"/>
              </a:solidFill>
              <a:latin typeface="Baskerville Old Face" panose="02020602080505020303" pitchFamily="18" charset="0"/>
            </a:endParaRPr>
          </a:p>
          <a:p>
            <a:pPr marL="342900" indent="-342900">
              <a:buFont typeface="+mj-lt"/>
              <a:buAutoNum type="arabicParenR"/>
            </a:pPr>
            <a:endParaRPr lang="en-US" sz="2400" dirty="0">
              <a:latin typeface="Baskerville Old Face" panose="02020602080505020303" pitchFamily="18" charset="0"/>
            </a:endParaRPr>
          </a:p>
          <a:p>
            <a:pPr marL="342900" indent="-342900">
              <a:buFont typeface="+mj-lt"/>
              <a:buAutoNum type="arabicParenR"/>
            </a:pPr>
            <a:r>
              <a:rPr lang="en-US" sz="2400" b="1" dirty="0" smtClean="0">
                <a:latin typeface="Baskerville Old Face" panose="02020602080505020303" pitchFamily="18" charset="0"/>
              </a:rPr>
              <a:t>Who?</a:t>
            </a:r>
            <a:r>
              <a:rPr lang="en-US" sz="2400" dirty="0" smtClean="0">
                <a:latin typeface="Baskerville Old Face" panose="02020602080505020303" pitchFamily="18" charset="0"/>
              </a:rPr>
              <a:t> </a:t>
            </a:r>
            <a:r>
              <a:rPr lang="en-US" sz="2400" i="1" dirty="0" smtClean="0">
                <a:solidFill>
                  <a:srgbClr val="FF0000"/>
                </a:solidFill>
                <a:latin typeface="Baskerville Old Face" panose="02020602080505020303" pitchFamily="18" charset="0"/>
              </a:rPr>
              <a:t>With </a:t>
            </a:r>
            <a:r>
              <a:rPr lang="en-US" sz="2400" i="1" dirty="0">
                <a:solidFill>
                  <a:srgbClr val="FF0000"/>
                </a:solidFill>
                <a:latin typeface="Baskerville Old Face" panose="02020602080505020303" pitchFamily="18" charset="0"/>
              </a:rPr>
              <a:t>whom do | wish to </a:t>
            </a:r>
            <a:r>
              <a:rPr lang="en-US" sz="2400" i="1" dirty="0" smtClean="0">
                <a:solidFill>
                  <a:srgbClr val="FF0000"/>
                </a:solidFill>
                <a:latin typeface="Baskerville Old Face" panose="02020602080505020303" pitchFamily="18" charset="0"/>
              </a:rPr>
              <a:t>communicate</a:t>
            </a:r>
            <a:r>
              <a:rPr lang="en-US" sz="2400" i="1" dirty="0">
                <a:latin typeface="Baskerville Old Face" panose="02020602080505020303" pitchFamily="18" charset="0"/>
              </a:rPr>
              <a:t>.</a:t>
            </a:r>
            <a:endParaRPr lang="en-US" sz="2400" i="1" dirty="0" smtClean="0">
              <a:latin typeface="Baskerville Old Face" panose="02020602080505020303" pitchFamily="18" charset="0"/>
            </a:endParaRPr>
          </a:p>
          <a:p>
            <a:pPr marL="342900" indent="-342900">
              <a:buFont typeface="+mj-lt"/>
              <a:buAutoNum type="arabicParenR"/>
            </a:pPr>
            <a:endParaRPr lang="en-US" sz="2400" dirty="0">
              <a:latin typeface="Baskerville Old Face" panose="02020602080505020303" pitchFamily="18" charset="0"/>
            </a:endParaRPr>
          </a:p>
          <a:p>
            <a:pPr marL="342900" indent="-342900">
              <a:buFont typeface="+mj-lt"/>
              <a:buAutoNum type="arabicParenR"/>
            </a:pPr>
            <a:r>
              <a:rPr lang="en-US" sz="2400" b="1" dirty="0">
                <a:latin typeface="Baskerville Old Face" panose="02020602080505020303" pitchFamily="18" charset="0"/>
              </a:rPr>
              <a:t>What is my purpose in communicating</a:t>
            </a:r>
            <a:r>
              <a:rPr lang="en-US" sz="2400" b="1" dirty="0" smtClean="0">
                <a:latin typeface="Baskerville Old Face" panose="02020602080505020303" pitchFamily="18" charset="0"/>
              </a:rPr>
              <a:t>?</a:t>
            </a:r>
          </a:p>
          <a:p>
            <a:pPr marL="342900" indent="-342900">
              <a:buFont typeface="+mj-lt"/>
              <a:buAutoNum type="arabicParenR"/>
            </a:pPr>
            <a:endParaRPr lang="en-US" sz="2400" b="1" dirty="0">
              <a:latin typeface="Baskerville Old Face" panose="02020602080505020303" pitchFamily="18" charset="0"/>
            </a:endParaRPr>
          </a:p>
          <a:p>
            <a:pPr marL="342900" indent="-342900">
              <a:buFont typeface="+mj-lt"/>
              <a:buAutoNum type="arabicParenR"/>
            </a:pPr>
            <a:r>
              <a:rPr lang="en-US" sz="2400" b="1" dirty="0">
                <a:latin typeface="Baskerville Old Face" panose="02020602080505020303" pitchFamily="18" charset="0"/>
              </a:rPr>
              <a:t>When and </a:t>
            </a:r>
            <a:r>
              <a:rPr lang="en-US" sz="2400" b="1" dirty="0" smtClean="0">
                <a:latin typeface="Baskerville Old Face" panose="02020602080505020303" pitchFamily="18" charset="0"/>
              </a:rPr>
              <a:t>where? </a:t>
            </a:r>
            <a:r>
              <a:rPr lang="en-US" sz="2400" i="1" dirty="0" smtClean="0">
                <a:solidFill>
                  <a:srgbClr val="FF0000"/>
                </a:solidFill>
                <a:latin typeface="Baskerville Old Face" panose="02020602080505020303" pitchFamily="18" charset="0"/>
              </a:rPr>
              <a:t>Are </a:t>
            </a:r>
            <a:r>
              <a:rPr lang="en-US" sz="2400" i="1" dirty="0">
                <a:solidFill>
                  <a:srgbClr val="FF0000"/>
                </a:solidFill>
                <a:latin typeface="Baskerville Old Face" panose="02020602080505020303" pitchFamily="18" charset="0"/>
              </a:rPr>
              <a:t>there features about the place and time which affect how | </a:t>
            </a:r>
            <a:r>
              <a:rPr lang="en-US" sz="2400" i="1" dirty="0" smtClean="0">
                <a:solidFill>
                  <a:srgbClr val="FF0000"/>
                </a:solidFill>
                <a:latin typeface="Baskerville Old Face" panose="02020602080505020303" pitchFamily="18" charset="0"/>
              </a:rPr>
              <a:t>should write </a:t>
            </a:r>
            <a:r>
              <a:rPr lang="en-US" sz="2400" i="1" dirty="0">
                <a:solidFill>
                  <a:srgbClr val="FF0000"/>
                </a:solidFill>
                <a:latin typeface="Baskerville Old Face" panose="02020602080505020303" pitchFamily="18" charset="0"/>
              </a:rPr>
              <a:t>or </a:t>
            </a:r>
            <a:r>
              <a:rPr lang="en-US" sz="2400" i="1" dirty="0" smtClean="0">
                <a:solidFill>
                  <a:srgbClr val="FF0000"/>
                </a:solidFill>
                <a:latin typeface="Baskerville Old Face" panose="02020602080505020303" pitchFamily="18" charset="0"/>
              </a:rPr>
              <a:t>speak.</a:t>
            </a:r>
          </a:p>
          <a:p>
            <a:pPr marL="342900" indent="-342900">
              <a:buFont typeface="+mj-lt"/>
              <a:buAutoNum type="arabicParenR"/>
            </a:pPr>
            <a:endParaRPr lang="en-US" sz="2400" b="1" dirty="0" smtClean="0">
              <a:latin typeface="Baskerville Old Face" panose="02020602080505020303" pitchFamily="18" charset="0"/>
            </a:endParaRPr>
          </a:p>
          <a:p>
            <a:pPr marL="342900" indent="-342900">
              <a:buFont typeface="+mj-lt"/>
              <a:buAutoNum type="arabicParenR"/>
            </a:pPr>
            <a:r>
              <a:rPr lang="en-US" sz="2400" b="1" dirty="0" smtClean="0">
                <a:latin typeface="Baskerville Old Face" panose="02020602080505020303" pitchFamily="18" charset="0"/>
              </a:rPr>
              <a:t>What </a:t>
            </a:r>
            <a:r>
              <a:rPr lang="en-US" sz="2400" b="1" dirty="0">
                <a:latin typeface="Baskerville Old Face" panose="02020602080505020303" pitchFamily="18" charset="0"/>
              </a:rPr>
              <a:t>type of communication am | aiming </a:t>
            </a:r>
            <a:r>
              <a:rPr lang="en-US" sz="2400" b="1" dirty="0" smtClean="0">
                <a:latin typeface="Baskerville Old Face" panose="02020602080505020303" pitchFamily="18" charset="0"/>
              </a:rPr>
              <a:t>at? </a:t>
            </a:r>
            <a:r>
              <a:rPr lang="en-US" sz="2400" dirty="0" smtClean="0">
                <a:latin typeface="Baskerville Old Face" panose="02020602080505020303" pitchFamily="18" charset="0"/>
              </a:rPr>
              <a:t>—</a:t>
            </a:r>
            <a:r>
              <a:rPr lang="en-US" sz="2400" i="1" dirty="0" smtClean="0">
                <a:solidFill>
                  <a:srgbClr val="FF0000"/>
                </a:solidFill>
                <a:latin typeface="Baskerville Old Face" panose="02020602080505020303" pitchFamily="18" charset="0"/>
              </a:rPr>
              <a:t>narration/ description/ argument</a:t>
            </a:r>
            <a:r>
              <a:rPr lang="en-US" sz="2400" i="1" dirty="0" smtClean="0">
                <a:solidFill>
                  <a:srgbClr val="FF0000"/>
                </a:solidFill>
              </a:rPr>
              <a:t>.</a:t>
            </a:r>
            <a:endParaRPr lang="en-IN" sz="2400" i="1" dirty="0">
              <a:solidFill>
                <a:srgbClr val="FF0000"/>
              </a:solidFill>
            </a:endParaRPr>
          </a:p>
        </p:txBody>
      </p:sp>
      <p:sp>
        <p:nvSpPr>
          <p:cNvPr id="5" name="TextBox 4"/>
          <p:cNvSpPr txBox="1"/>
          <p:nvPr/>
        </p:nvSpPr>
        <p:spPr>
          <a:xfrm>
            <a:off x="1056443" y="532660"/>
            <a:ext cx="9525739" cy="954107"/>
          </a:xfrm>
          <a:prstGeom prst="rect">
            <a:avLst/>
          </a:prstGeom>
          <a:noFill/>
        </p:spPr>
        <p:txBody>
          <a:bodyPr wrap="square" rtlCol="0">
            <a:spAutoFit/>
          </a:bodyPr>
          <a:lstStyle/>
          <a:p>
            <a:r>
              <a:rPr lang="en-US" sz="2800" dirty="0" smtClean="0">
                <a:latin typeface="Baskerville Old Face" panose="02020602080505020303" pitchFamily="18" charset="0"/>
              </a:rPr>
              <a:t>5 IMPORTANT QUESTIONS FOR EFFECTIVE COMMUNICATION </a:t>
            </a:r>
            <a:endParaRPr lang="en-IN" sz="2800" dirty="0">
              <a:latin typeface="Baskerville Old Face" panose="02020602080505020303" pitchFamily="18" charset="0"/>
            </a:endParaRPr>
          </a:p>
        </p:txBody>
      </p:sp>
    </p:spTree>
    <p:extLst>
      <p:ext uri="{BB962C8B-B14F-4D97-AF65-F5344CB8AC3E}">
        <p14:creationId xmlns:p14="http://schemas.microsoft.com/office/powerpoint/2010/main" val="1161033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16B080B-98F0-8BAA-66DE-2275A420C200}"/>
              </a:ext>
            </a:extLst>
          </p:cNvPr>
          <p:cNvGraphicFramePr>
            <a:graphicFrameLocks noGrp="1"/>
          </p:cNvGraphicFramePr>
          <p:nvPr>
            <p:extLst>
              <p:ext uri="{D42A27DB-BD31-4B8C-83A1-F6EECF244321}">
                <p14:modId xmlns:p14="http://schemas.microsoft.com/office/powerpoint/2010/main" val="3687879451"/>
              </p:ext>
            </p:extLst>
          </p:nvPr>
        </p:nvGraphicFramePr>
        <p:xfrm>
          <a:off x="1393371" y="740229"/>
          <a:ext cx="9241972" cy="5208067"/>
        </p:xfrm>
        <a:graphic>
          <a:graphicData uri="http://schemas.openxmlformats.org/drawingml/2006/table">
            <a:tbl>
              <a:tblPr firstRow="1" bandRow="1">
                <a:tableStyleId>{00A15C55-8517-42AA-B614-E9B94910E393}</a:tableStyleId>
              </a:tblPr>
              <a:tblGrid>
                <a:gridCol w="4620986">
                  <a:extLst>
                    <a:ext uri="{9D8B030D-6E8A-4147-A177-3AD203B41FA5}">
                      <a16:colId xmlns:a16="http://schemas.microsoft.com/office/drawing/2014/main" val="2867409282"/>
                    </a:ext>
                  </a:extLst>
                </a:gridCol>
                <a:gridCol w="4620986">
                  <a:extLst>
                    <a:ext uri="{9D8B030D-6E8A-4147-A177-3AD203B41FA5}">
                      <a16:colId xmlns:a16="http://schemas.microsoft.com/office/drawing/2014/main" val="3929206317"/>
                    </a:ext>
                  </a:extLst>
                </a:gridCol>
              </a:tblGrid>
              <a:tr h="804117">
                <a:tc>
                  <a:txBody>
                    <a:bodyPr/>
                    <a:lstStyle/>
                    <a:p>
                      <a:r>
                        <a:rPr lang="en-IN" sz="2400" dirty="0">
                          <a:latin typeface="Times New Roman" panose="02020603050405020304" pitchFamily="18" charset="0"/>
                          <a:cs typeface="Times New Roman" panose="02020603050405020304" pitchFamily="18" charset="0"/>
                        </a:rPr>
                        <a:t> GENERAL COMMUNICATION</a:t>
                      </a:r>
                    </a:p>
                  </a:txBody>
                  <a:tcPr/>
                </a:tc>
                <a:tc>
                  <a:txBody>
                    <a:bodyPr/>
                    <a:lstStyle/>
                    <a:p>
                      <a:r>
                        <a:rPr lang="en-IN" sz="2400" dirty="0">
                          <a:latin typeface="Times New Roman" panose="02020603050405020304" pitchFamily="18" charset="0"/>
                          <a:cs typeface="Times New Roman" panose="02020603050405020304" pitchFamily="18" charset="0"/>
                        </a:rPr>
                        <a:t>      TECHNICAL                                    COMMUNICATION</a:t>
                      </a:r>
                    </a:p>
                  </a:txBody>
                  <a:tcPr/>
                </a:tc>
                <a:extLst>
                  <a:ext uri="{0D108BD9-81ED-4DB2-BD59-A6C34878D82A}">
                    <a16:rowId xmlns:a16="http://schemas.microsoft.com/office/drawing/2014/main" val="3668575683"/>
                  </a:ext>
                </a:extLst>
              </a:tr>
              <a:tr h="553439">
                <a:tc>
                  <a:txBody>
                    <a:bodyPr/>
                    <a:lstStyle/>
                    <a:p>
                      <a:r>
                        <a:rPr lang="en-IN" sz="2400" dirty="0">
                          <a:latin typeface="Times New Roman" panose="02020603050405020304" pitchFamily="18" charset="0"/>
                          <a:cs typeface="Times New Roman" panose="02020603050405020304" pitchFamily="18" charset="0"/>
                        </a:rPr>
                        <a:t>Contains a general message </a:t>
                      </a:r>
                    </a:p>
                  </a:txBody>
                  <a:tcPr/>
                </a:tc>
                <a:tc>
                  <a:txBody>
                    <a:bodyPr/>
                    <a:lstStyle/>
                    <a:p>
                      <a:r>
                        <a:rPr lang="en-IN" sz="2400" dirty="0">
                          <a:latin typeface="Times New Roman" panose="02020603050405020304" pitchFamily="18" charset="0"/>
                          <a:cs typeface="Times New Roman" panose="02020603050405020304" pitchFamily="18" charset="0"/>
                        </a:rPr>
                        <a:t>Contains a technical message </a:t>
                      </a:r>
                    </a:p>
                  </a:txBody>
                  <a:tcPr/>
                </a:tc>
                <a:extLst>
                  <a:ext uri="{0D108BD9-81ED-4DB2-BD59-A6C34878D82A}">
                    <a16:rowId xmlns:a16="http://schemas.microsoft.com/office/drawing/2014/main" val="3997156444"/>
                  </a:ext>
                </a:extLst>
              </a:tr>
              <a:tr h="553439">
                <a:tc>
                  <a:txBody>
                    <a:bodyPr/>
                    <a:lstStyle/>
                    <a:p>
                      <a:r>
                        <a:rPr lang="en-IN" sz="2400" dirty="0">
                          <a:latin typeface="Times New Roman" panose="02020603050405020304" pitchFamily="18" charset="0"/>
                          <a:cs typeface="Times New Roman" panose="02020603050405020304" pitchFamily="18" charset="0"/>
                        </a:rPr>
                        <a:t>Informal in </a:t>
                      </a:r>
                      <a:r>
                        <a:rPr lang="en-IN" sz="2400" dirty="0" smtClean="0">
                          <a:latin typeface="Times New Roman" panose="02020603050405020304" pitchFamily="18" charset="0"/>
                          <a:cs typeface="Times New Roman" panose="02020603050405020304" pitchFamily="18" charset="0"/>
                        </a:rPr>
                        <a:t>style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Mostly formal </a:t>
                      </a:r>
                    </a:p>
                  </a:txBody>
                  <a:tcPr/>
                </a:tc>
                <a:extLst>
                  <a:ext uri="{0D108BD9-81ED-4DB2-BD59-A6C34878D82A}">
                    <a16:rowId xmlns:a16="http://schemas.microsoft.com/office/drawing/2014/main" val="3119260425"/>
                  </a:ext>
                </a:extLst>
              </a:tr>
              <a:tr h="768035">
                <a:tc>
                  <a:txBody>
                    <a:bodyPr/>
                    <a:lstStyle/>
                    <a:p>
                      <a:r>
                        <a:rPr lang="en-IN" sz="2400" dirty="0">
                          <a:latin typeface="Times New Roman" panose="02020603050405020304" pitchFamily="18" charset="0"/>
                          <a:cs typeface="Times New Roman" panose="02020603050405020304" pitchFamily="18" charset="0"/>
                        </a:rPr>
                        <a:t>No set pattern of communication </a:t>
                      </a:r>
                    </a:p>
                  </a:txBody>
                  <a:tcPr/>
                </a:tc>
                <a:tc>
                  <a:txBody>
                    <a:bodyPr/>
                    <a:lstStyle/>
                    <a:p>
                      <a:r>
                        <a:rPr lang="en-IN" sz="2400" dirty="0">
                          <a:latin typeface="Times New Roman" panose="02020603050405020304" pitchFamily="18" charset="0"/>
                          <a:cs typeface="Times New Roman" panose="02020603050405020304" pitchFamily="18" charset="0"/>
                        </a:rPr>
                        <a:t>Follows a set pattern </a:t>
                      </a:r>
                    </a:p>
                  </a:txBody>
                  <a:tcPr/>
                </a:tc>
                <a:extLst>
                  <a:ext uri="{0D108BD9-81ED-4DB2-BD59-A6C34878D82A}">
                    <a16:rowId xmlns:a16="http://schemas.microsoft.com/office/drawing/2014/main" val="2355874253"/>
                  </a:ext>
                </a:extLst>
              </a:tr>
              <a:tr h="553439">
                <a:tc>
                  <a:txBody>
                    <a:bodyPr/>
                    <a:lstStyle/>
                    <a:p>
                      <a:r>
                        <a:rPr lang="en-IN" sz="2400" dirty="0">
                          <a:latin typeface="Times New Roman" panose="02020603050405020304" pitchFamily="18" charset="0"/>
                          <a:cs typeface="Times New Roman" panose="02020603050405020304" pitchFamily="18" charset="0"/>
                        </a:rPr>
                        <a:t>Mostly oral </a:t>
                      </a:r>
                    </a:p>
                  </a:txBody>
                  <a:tcPr/>
                </a:tc>
                <a:tc>
                  <a:txBody>
                    <a:bodyPr/>
                    <a:lstStyle/>
                    <a:p>
                      <a:r>
                        <a:rPr lang="en-IN" sz="2400" dirty="0">
                          <a:latin typeface="Times New Roman" panose="02020603050405020304" pitchFamily="18" charset="0"/>
                          <a:cs typeface="Times New Roman" panose="02020603050405020304" pitchFamily="18" charset="0"/>
                        </a:rPr>
                        <a:t>Both oral and written </a:t>
                      </a:r>
                    </a:p>
                  </a:txBody>
                  <a:tcPr/>
                </a:tc>
                <a:extLst>
                  <a:ext uri="{0D108BD9-81ED-4DB2-BD59-A6C34878D82A}">
                    <a16:rowId xmlns:a16="http://schemas.microsoft.com/office/drawing/2014/main" val="1987564009"/>
                  </a:ext>
                </a:extLst>
              </a:tr>
              <a:tr h="768035">
                <a:tc>
                  <a:txBody>
                    <a:bodyPr/>
                    <a:lstStyle/>
                    <a:p>
                      <a:r>
                        <a:rPr lang="en-IN" sz="2400" dirty="0">
                          <a:latin typeface="Times New Roman" panose="02020603050405020304" pitchFamily="18" charset="0"/>
                          <a:cs typeface="Times New Roman" panose="02020603050405020304" pitchFamily="18" charset="0"/>
                        </a:rPr>
                        <a:t>Not always for a specific audience</a:t>
                      </a:r>
                    </a:p>
                  </a:txBody>
                  <a:tcPr/>
                </a:tc>
                <a:tc>
                  <a:txBody>
                    <a:bodyPr/>
                    <a:lstStyle/>
                    <a:p>
                      <a:r>
                        <a:rPr lang="en-IN" sz="2400" dirty="0">
                          <a:latin typeface="Times New Roman" panose="02020603050405020304" pitchFamily="18" charset="0"/>
                          <a:cs typeface="Times New Roman" panose="02020603050405020304" pitchFamily="18" charset="0"/>
                        </a:rPr>
                        <a:t>Always for a specific audience </a:t>
                      </a:r>
                    </a:p>
                  </a:txBody>
                  <a:tcPr/>
                </a:tc>
                <a:extLst>
                  <a:ext uri="{0D108BD9-81ED-4DB2-BD59-A6C34878D82A}">
                    <a16:rowId xmlns:a16="http://schemas.microsoft.com/office/drawing/2014/main" val="3904732316"/>
                  </a:ext>
                </a:extLst>
              </a:tr>
              <a:tr h="1109384">
                <a:tc>
                  <a:txBody>
                    <a:bodyPr/>
                    <a:lstStyle/>
                    <a:p>
                      <a:r>
                        <a:rPr lang="en-IN" sz="2400" dirty="0">
                          <a:latin typeface="Times New Roman" panose="02020603050405020304" pitchFamily="18" charset="0"/>
                          <a:cs typeface="Times New Roman" panose="02020603050405020304" pitchFamily="18" charset="0"/>
                        </a:rPr>
                        <a:t>Does not involve the use of technical vocabulary or graphics etc. </a:t>
                      </a:r>
                    </a:p>
                  </a:txBody>
                  <a:tcPr/>
                </a:tc>
                <a:tc>
                  <a:txBody>
                    <a:bodyPr/>
                    <a:lstStyle/>
                    <a:p>
                      <a:r>
                        <a:rPr lang="en-IN" sz="2400" dirty="0" smtClean="0">
                          <a:latin typeface="Times New Roman" panose="02020603050405020304" pitchFamily="18" charset="0"/>
                          <a:cs typeface="Times New Roman" panose="02020603050405020304" pitchFamily="18" charset="0"/>
                        </a:rPr>
                        <a:t>Involves</a:t>
                      </a:r>
                      <a:r>
                        <a:rPr lang="en-IN" sz="2400" baseline="0" dirty="0" smtClean="0">
                          <a:latin typeface="Times New Roman" panose="02020603050405020304" pitchFamily="18" charset="0"/>
                          <a:cs typeface="Times New Roman" panose="02020603050405020304" pitchFamily="18" charset="0"/>
                        </a:rPr>
                        <a:t> use of </a:t>
                      </a:r>
                      <a:r>
                        <a:rPr lang="en-IN" sz="2400" dirty="0" smtClean="0">
                          <a:latin typeface="Times New Roman" panose="02020603050405020304" pitchFamily="18" charset="0"/>
                          <a:cs typeface="Times New Roman" panose="02020603050405020304" pitchFamily="18" charset="0"/>
                        </a:rPr>
                        <a:t>jargon</a:t>
                      </a:r>
                      <a:r>
                        <a:rPr lang="en-IN" sz="2400" dirty="0">
                          <a:latin typeface="Times New Roman" panose="02020603050405020304" pitchFamily="18" charset="0"/>
                          <a:cs typeface="Times New Roman" panose="02020603050405020304" pitchFamily="18" charset="0"/>
                        </a:rPr>
                        <a:t>, graphics etc. </a:t>
                      </a:r>
                    </a:p>
                  </a:txBody>
                  <a:tcPr/>
                </a:tc>
                <a:extLst>
                  <a:ext uri="{0D108BD9-81ED-4DB2-BD59-A6C34878D82A}">
                    <a16:rowId xmlns:a16="http://schemas.microsoft.com/office/drawing/2014/main" val="184982994"/>
                  </a:ext>
                </a:extLst>
              </a:tr>
            </a:tbl>
          </a:graphicData>
        </a:graphic>
      </p:graphicFrame>
    </p:spTree>
    <p:extLst>
      <p:ext uri="{BB962C8B-B14F-4D97-AF65-F5344CB8AC3E}">
        <p14:creationId xmlns:p14="http://schemas.microsoft.com/office/powerpoint/2010/main" val="738752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C2AC-94C7-D7DD-DE69-A485AC01AA40}"/>
              </a:ext>
            </a:extLst>
          </p:cNvPr>
          <p:cNvSpPr>
            <a:spLocks noGrp="1"/>
          </p:cNvSpPr>
          <p:nvPr>
            <p:ph type="title"/>
          </p:nvPr>
        </p:nvSpPr>
        <p:spPr/>
        <p:txBody>
          <a:bodyPr/>
          <a:lstStyle/>
          <a:p>
            <a:r>
              <a:rPr lang="en-IN" dirty="0">
                <a:latin typeface="Georgia" panose="02040502050405020303" pitchFamily="18" charset="0"/>
              </a:rPr>
              <a:t>Difference between business and technical communication </a:t>
            </a:r>
          </a:p>
        </p:txBody>
      </p:sp>
      <p:sp>
        <p:nvSpPr>
          <p:cNvPr id="3" name="Content Placeholder 2">
            <a:extLst>
              <a:ext uri="{FF2B5EF4-FFF2-40B4-BE49-F238E27FC236}">
                <a16:creationId xmlns:a16="http://schemas.microsoft.com/office/drawing/2014/main" id="{DA7FD372-5BA4-0769-BC61-1E389680F1B8}"/>
              </a:ext>
            </a:extLst>
          </p:cNvPr>
          <p:cNvSpPr>
            <a:spLocks noGrp="1"/>
          </p:cNvSpPr>
          <p:nvPr>
            <p:ph idx="1"/>
          </p:nvPr>
        </p:nvSpPr>
        <p:spPr/>
        <p:txBody>
          <a:bodyPr>
            <a:noAutofit/>
          </a:bodyPr>
          <a:lstStyle/>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Emails are crux of business writing. Other  types of business writing include letters, reports, blog posts, articles, and more. </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People in specialized fields write documents that relate to technical or complex subjects. </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Unlike business documents, technical documents are often a  collaborative effort between a technical writer, UX writer, subject matter expert, editor, and others. </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Kinds of technical documents: Abstracts, articles for publication, executive summaries, reports, user manuals, functional and detail specifications</a:t>
            </a:r>
          </a:p>
        </p:txBody>
      </p:sp>
    </p:spTree>
    <p:extLst>
      <p:ext uri="{BB962C8B-B14F-4D97-AF65-F5344CB8AC3E}">
        <p14:creationId xmlns:p14="http://schemas.microsoft.com/office/powerpoint/2010/main" val="2413190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A6D2A-467F-FF28-A4DF-554F2549E1BF}"/>
              </a:ext>
            </a:extLst>
          </p:cNvPr>
          <p:cNvSpPr>
            <a:spLocks noGrp="1"/>
          </p:cNvSpPr>
          <p:nvPr>
            <p:ph type="title"/>
          </p:nvPr>
        </p:nvSpPr>
        <p:spPr/>
        <p:txBody>
          <a:bodyPr/>
          <a:lstStyle/>
          <a:p>
            <a:r>
              <a:rPr lang="en-IN" dirty="0">
                <a:latin typeface="Georgia" panose="02040502050405020303" pitchFamily="18" charset="0"/>
              </a:rPr>
              <a:t>What makes technical communication unique?</a:t>
            </a:r>
          </a:p>
        </p:txBody>
      </p:sp>
      <p:sp>
        <p:nvSpPr>
          <p:cNvPr id="3" name="Content Placeholder 2">
            <a:extLst>
              <a:ext uri="{FF2B5EF4-FFF2-40B4-BE49-F238E27FC236}">
                <a16:creationId xmlns:a16="http://schemas.microsoft.com/office/drawing/2014/main" id="{05CAA5CC-C449-9BBD-26AE-B6ACA1BAB8F1}"/>
              </a:ext>
            </a:extLst>
          </p:cNvPr>
          <p:cNvSpPr>
            <a:spLocks noGrp="1"/>
          </p:cNvSpPr>
          <p:nvPr>
            <p:ph idx="1"/>
          </p:nvPr>
        </p:nvSpPr>
        <p:spPr/>
        <p:txBody>
          <a:bodyPr/>
          <a:lstStyle/>
          <a:p>
            <a:endParaRPr lang="en-IN" dirty="0"/>
          </a:p>
          <a:p>
            <a:r>
              <a:rPr lang="en-US" sz="3200" dirty="0">
                <a:latin typeface="Times New Roman" panose="02020603050405020304" pitchFamily="18" charset="0"/>
                <a:cs typeface="Times New Roman" panose="02020603050405020304" pitchFamily="18" charset="0"/>
              </a:rPr>
              <a:t>The biggest difference between technical communication and the other kinds of writing you have done is that technical communication has a somewhat different focus on </a:t>
            </a:r>
            <a:r>
              <a:rPr lang="en-US" sz="3200" b="1" dirty="0">
                <a:latin typeface="Times New Roman" panose="02020603050405020304" pitchFamily="18" charset="0"/>
                <a:cs typeface="Times New Roman" panose="02020603050405020304" pitchFamily="18" charset="0"/>
              </a:rPr>
              <a:t>audience </a:t>
            </a:r>
            <a:r>
              <a:rPr lang="en-US" sz="3200" dirty="0">
                <a:latin typeface="Times New Roman" panose="02020603050405020304" pitchFamily="18" charset="0"/>
                <a:cs typeface="Times New Roman" panose="02020603050405020304" pitchFamily="18" charset="0"/>
              </a:rPr>
              <a:t>and </a:t>
            </a:r>
            <a:r>
              <a:rPr lang="en-US" sz="3200" b="1" dirty="0">
                <a:latin typeface="Times New Roman" panose="02020603050405020304" pitchFamily="18" charset="0"/>
                <a:cs typeface="Times New Roman" panose="02020603050405020304" pitchFamily="18" charset="0"/>
              </a:rPr>
              <a:t>purpose. </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332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C916-8B3C-6B02-C14A-C574C110A3A8}"/>
              </a:ext>
            </a:extLst>
          </p:cNvPr>
          <p:cNvSpPr>
            <a:spLocks noGrp="1"/>
          </p:cNvSpPr>
          <p:nvPr>
            <p:ph type="title"/>
          </p:nvPr>
        </p:nvSpPr>
        <p:spPr/>
        <p:txBody>
          <a:bodyPr/>
          <a:lstStyle/>
          <a:p>
            <a:r>
              <a:rPr lang="en-IN" dirty="0">
                <a:latin typeface="Georgia" panose="02040502050405020303" pitchFamily="18" charset="0"/>
              </a:rPr>
              <a:t>Example 1</a:t>
            </a:r>
            <a:r>
              <a:rPr lang="en-IN" b="1" dirty="0">
                <a:latin typeface="Georgia" panose="02040502050405020303" pitchFamily="18" charset="0"/>
              </a:rPr>
              <a:t> </a:t>
            </a:r>
          </a:p>
        </p:txBody>
      </p:sp>
      <p:sp>
        <p:nvSpPr>
          <p:cNvPr id="3" name="Content Placeholder 2">
            <a:extLst>
              <a:ext uri="{FF2B5EF4-FFF2-40B4-BE49-F238E27FC236}">
                <a16:creationId xmlns:a16="http://schemas.microsoft.com/office/drawing/2014/main" id="{F536DC28-0F5E-6CB2-00C6-ABDF73453E85}"/>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Let us take an example of a customer who has bought a washing machine and does not know how to use it. The customer reads the instructions in the user manual and gradually learns to operate the washing machine without any assistance. This is an example of successful technical communication. </a:t>
            </a:r>
          </a:p>
          <a:p>
            <a:endParaRPr lang="en-US" dirty="0"/>
          </a:p>
        </p:txBody>
      </p:sp>
    </p:spTree>
    <p:extLst>
      <p:ext uri="{BB962C8B-B14F-4D97-AF65-F5344CB8AC3E}">
        <p14:creationId xmlns:p14="http://schemas.microsoft.com/office/powerpoint/2010/main" val="1824756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FE3A1-F853-057E-F2C3-9ED38D145FE1}"/>
              </a:ext>
            </a:extLst>
          </p:cNvPr>
          <p:cNvSpPr>
            <a:spLocks noGrp="1"/>
          </p:cNvSpPr>
          <p:nvPr>
            <p:ph type="title"/>
          </p:nvPr>
        </p:nvSpPr>
        <p:spPr/>
        <p:txBody>
          <a:bodyPr/>
          <a:lstStyle/>
          <a:p>
            <a:r>
              <a:rPr lang="en-IN" dirty="0">
                <a:latin typeface="Georgia" panose="02040502050405020303" pitchFamily="18" charset="0"/>
              </a:rPr>
              <a:t>Example 2</a:t>
            </a:r>
          </a:p>
        </p:txBody>
      </p:sp>
      <p:sp>
        <p:nvSpPr>
          <p:cNvPr id="3" name="Content Placeholder 2">
            <a:extLst>
              <a:ext uri="{FF2B5EF4-FFF2-40B4-BE49-F238E27FC236}">
                <a16:creationId xmlns:a16="http://schemas.microsoft.com/office/drawing/2014/main" id="{DBDD2DE7-9E1F-ED81-E925-F165575D018C}"/>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If the communication is through a user manual for a phone, remember that people will usually never use it unless they are stuck. And if they are stuck, they will look for instant information to solve their problem. The information must be brief and arranged sequentially so that it is easy for a user to find relevant information. It is also vital that the technical information provided in the manual be accurate.</a:t>
            </a:r>
          </a:p>
          <a:p>
            <a:endParaRPr lang="en-IN" dirty="0"/>
          </a:p>
        </p:txBody>
      </p:sp>
    </p:spTree>
    <p:extLst>
      <p:ext uri="{BB962C8B-B14F-4D97-AF65-F5344CB8AC3E}">
        <p14:creationId xmlns:p14="http://schemas.microsoft.com/office/powerpoint/2010/main" val="858743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88027-C7DD-DB58-59B1-56646B77FECD}"/>
              </a:ext>
            </a:extLst>
          </p:cNvPr>
          <p:cNvSpPr>
            <a:spLocks noGrp="1"/>
          </p:cNvSpPr>
          <p:nvPr>
            <p:ph type="title" idx="4294967295"/>
          </p:nvPr>
        </p:nvSpPr>
        <p:spPr>
          <a:xfrm>
            <a:off x="2133600" y="287338"/>
            <a:ext cx="10058400" cy="1449387"/>
          </a:xfrm>
        </p:spPr>
        <p:txBody>
          <a:bodyPr/>
          <a:lstStyle/>
          <a:p>
            <a:r>
              <a:rPr lang="en-IN" dirty="0"/>
              <a:t>          </a:t>
            </a:r>
          </a:p>
        </p:txBody>
      </p:sp>
      <p:pic>
        <p:nvPicPr>
          <p:cNvPr id="7" name="Content Placeholder 6">
            <a:hlinkClick r:id="rId2"/>
            <a:extLst>
              <a:ext uri="{FF2B5EF4-FFF2-40B4-BE49-F238E27FC236}">
                <a16:creationId xmlns:a16="http://schemas.microsoft.com/office/drawing/2014/main" id="{58B416A9-6AFF-AD2B-C739-D20B0625AD7D}"/>
              </a:ext>
            </a:extLst>
          </p:cNvPr>
          <p:cNvPicPr>
            <a:picLocks noGrp="1" noChangeAspect="1"/>
          </p:cNvPicPr>
          <p:nvPr>
            <p:ph idx="4294967295"/>
          </p:nvPr>
        </p:nvPicPr>
        <p:blipFill>
          <a:blip r:embed="rId3"/>
          <a:stretch>
            <a:fillRect/>
          </a:stretch>
        </p:blipFill>
        <p:spPr>
          <a:xfrm>
            <a:off x="511628" y="483877"/>
            <a:ext cx="10058400" cy="5657254"/>
          </a:xfrm>
          <a:prstGeom prst="rect">
            <a:avLst/>
          </a:prstGeom>
        </p:spPr>
      </p:pic>
    </p:spTree>
    <p:extLst>
      <p:ext uri="{BB962C8B-B14F-4D97-AF65-F5344CB8AC3E}">
        <p14:creationId xmlns:p14="http://schemas.microsoft.com/office/powerpoint/2010/main" val="2925109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42A26-21C5-35E2-FBFC-3419C8914E6F}"/>
              </a:ext>
            </a:extLst>
          </p:cNvPr>
          <p:cNvSpPr>
            <a:spLocks noGrp="1"/>
          </p:cNvSpPr>
          <p:nvPr>
            <p:ph type="title"/>
          </p:nvPr>
        </p:nvSpPr>
        <p:spPr/>
        <p:txBody>
          <a:bodyPr/>
          <a:lstStyle/>
          <a:p>
            <a:r>
              <a:rPr lang="en-IN" dirty="0">
                <a:latin typeface="Georgia" panose="02040502050405020303" pitchFamily="18" charset="0"/>
              </a:rPr>
              <a:t>The  Course Structure </a:t>
            </a:r>
          </a:p>
        </p:txBody>
      </p:sp>
      <p:sp>
        <p:nvSpPr>
          <p:cNvPr id="3" name="Content Placeholder 2">
            <a:extLst>
              <a:ext uri="{FF2B5EF4-FFF2-40B4-BE49-F238E27FC236}">
                <a16:creationId xmlns:a16="http://schemas.microsoft.com/office/drawing/2014/main" id="{2E5DEFC5-4459-185F-C4B7-4FE493095704}"/>
              </a:ext>
            </a:extLst>
          </p:cNvPr>
          <p:cNvSpPr>
            <a:spLocks noGrp="1"/>
          </p:cNvSpPr>
          <p:nvPr>
            <p:ph idx="1"/>
          </p:nvPr>
        </p:nvSpPr>
        <p:spPr/>
        <p:txBody>
          <a:bodyPr>
            <a:normAutofit/>
          </a:bodyPr>
          <a:lstStyle/>
          <a:p>
            <a:pPr>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The course is divided into 7 modules. </a:t>
            </a:r>
          </a:p>
          <a:p>
            <a:pPr>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Each module is designed to equip you with at least one skill needed for technical writing and communication.</a:t>
            </a:r>
          </a:p>
          <a:p>
            <a:pPr>
              <a:buFont typeface="Wingdings" panose="05000000000000000000" pitchFamily="2" charset="2"/>
              <a:buChar char="Ø"/>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4714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BC125-FFFF-9650-D467-13DC00A1186F}"/>
              </a:ext>
            </a:extLst>
          </p:cNvPr>
          <p:cNvSpPr>
            <a:spLocks noGrp="1"/>
          </p:cNvSpPr>
          <p:nvPr>
            <p:ph type="title"/>
          </p:nvPr>
        </p:nvSpPr>
        <p:spPr/>
        <p:txBody>
          <a:bodyPr/>
          <a:lstStyle/>
          <a:p>
            <a:r>
              <a:rPr lang="en-IN" dirty="0">
                <a:latin typeface="Georgia" panose="02040502050405020303" pitchFamily="18" charset="0"/>
              </a:rPr>
              <a:t>Module </a:t>
            </a:r>
            <a:r>
              <a:rPr lang="en-IN" dirty="0" smtClean="0">
                <a:latin typeface="Georgia" panose="02040502050405020303" pitchFamily="18" charset="0"/>
              </a:rPr>
              <a:t>1:Foundations of Professional Communication</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84C9C28B-D3D7-1893-A6A5-994B84610361}"/>
              </a:ext>
            </a:extLst>
          </p:cNvPr>
          <p:cNvSpPr>
            <a:spLocks noGrp="1"/>
          </p:cNvSpPr>
          <p:nvPr>
            <p:ph idx="1"/>
          </p:nvPr>
        </p:nvSpPr>
        <p:spPr/>
        <p:txBody>
          <a:bodyPr>
            <a:normAutofit/>
          </a:bodyPr>
          <a:lstStyle/>
          <a:p>
            <a:pPr>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Communication process</a:t>
            </a:r>
          </a:p>
          <a:p>
            <a:pPr>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Technical vs General Communication</a:t>
            </a:r>
            <a:endParaRPr lang="en-US" sz="3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Barriers to </a:t>
            </a:r>
            <a:r>
              <a:rPr lang="en-US" sz="3200" dirty="0" smtClean="0">
                <a:latin typeface="Times New Roman" panose="02020603050405020304" pitchFamily="18" charset="0"/>
                <a:cs typeface="Times New Roman" panose="02020603050405020304" pitchFamily="18" charset="0"/>
              </a:rPr>
              <a:t>Communication</a:t>
            </a:r>
          </a:p>
          <a:p>
            <a:pPr>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Principles of clear communication</a:t>
            </a:r>
          </a:p>
          <a:p>
            <a:pPr>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Audience analysis</a:t>
            </a:r>
            <a:endParaRPr lang="en-US"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31397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6DCC-E628-0299-4B1F-216356F14FBE}"/>
              </a:ext>
            </a:extLst>
          </p:cNvPr>
          <p:cNvSpPr>
            <a:spLocks noGrp="1"/>
          </p:cNvSpPr>
          <p:nvPr>
            <p:ph type="title"/>
          </p:nvPr>
        </p:nvSpPr>
        <p:spPr/>
        <p:txBody>
          <a:bodyPr/>
          <a:lstStyle/>
          <a:p>
            <a:r>
              <a:rPr lang="en-IN" dirty="0">
                <a:latin typeface="Georgia" panose="02040502050405020303" pitchFamily="18" charset="0"/>
              </a:rPr>
              <a:t>Module 2: Listening and </a:t>
            </a:r>
            <a:r>
              <a:rPr lang="en-IN" dirty="0" smtClean="0">
                <a:latin typeface="Georgia" panose="02040502050405020303" pitchFamily="18" charset="0"/>
              </a:rPr>
              <a:t>Speaking for Engineers</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09F87FC4-A012-8675-2E2B-091B653350F2}"/>
              </a:ext>
            </a:extLst>
          </p:cNvPr>
          <p:cNvSpPr>
            <a:spLocks noGrp="1"/>
          </p:cNvSpPr>
          <p:nvPr>
            <p:ph idx="1"/>
          </p:nvPr>
        </p:nvSpPr>
        <p:spPr/>
        <p:txBody>
          <a:bodyPr>
            <a:normAutofit/>
          </a:bodyPr>
          <a:lstStyle/>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Active </a:t>
            </a:r>
            <a:r>
              <a:rPr lang="en-IN" sz="2800" dirty="0" smtClean="0">
                <a:latin typeface="Times New Roman" panose="02020603050405020304" pitchFamily="18" charset="0"/>
                <a:cs typeface="Times New Roman" panose="02020603050405020304" pitchFamily="18" charset="0"/>
              </a:rPr>
              <a:t>Listening</a:t>
            </a: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Asking effective questions </a:t>
            </a:r>
            <a:endParaRPr lang="en-IN"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800" dirty="0" smtClean="0">
                <a:latin typeface="Times New Roman" panose="02020603050405020304" pitchFamily="18" charset="0"/>
                <a:cs typeface="Times New Roman" panose="02020603050405020304" pitchFamily="18" charset="0"/>
              </a:rPr>
              <a:t>Public Speaking fundamentals</a:t>
            </a: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Technical discussions</a:t>
            </a: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Giving and receiving feedback </a:t>
            </a:r>
            <a:endParaRPr lang="en-IN"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5666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C4385-386A-282C-70E5-C397D5A15DFD}"/>
              </a:ext>
            </a:extLst>
          </p:cNvPr>
          <p:cNvSpPr>
            <a:spLocks noGrp="1"/>
          </p:cNvSpPr>
          <p:nvPr>
            <p:ph type="title"/>
          </p:nvPr>
        </p:nvSpPr>
        <p:spPr/>
        <p:txBody>
          <a:bodyPr/>
          <a:lstStyle/>
          <a:p>
            <a:r>
              <a:rPr lang="en-IN" dirty="0">
                <a:latin typeface="Georgia" panose="02040502050405020303" pitchFamily="18" charset="0"/>
              </a:rPr>
              <a:t>Module </a:t>
            </a:r>
            <a:r>
              <a:rPr lang="en-IN" dirty="0" smtClean="0">
                <a:latin typeface="Georgia" panose="02040502050405020303" pitchFamily="18" charset="0"/>
              </a:rPr>
              <a:t>3: Reading and Writing Technical Documents</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7EC1707C-5D54-98D9-DB3E-ABC4E2612ADF}"/>
              </a:ext>
            </a:extLst>
          </p:cNvPr>
          <p:cNvSpPr>
            <a:spLocks noGrp="1"/>
          </p:cNvSpPr>
          <p:nvPr>
            <p:ph idx="1"/>
          </p:nvPr>
        </p:nvSpPr>
        <p:spPr>
          <a:xfrm>
            <a:off x="1097280" y="2108201"/>
            <a:ext cx="4410891" cy="3760891"/>
          </a:xfrm>
        </p:spPr>
        <p:txBody>
          <a:bodyPr>
            <a:normAutofit fontScale="77500" lnSpcReduction="20000"/>
          </a:bodyPr>
          <a:lstStyle/>
          <a:p>
            <a:pPr>
              <a:buFont typeface="Wingdings" panose="05000000000000000000" pitchFamily="2" charset="2"/>
              <a:buChar char="Ø"/>
            </a:pPr>
            <a:r>
              <a:rPr lang="en-US" sz="2800" dirty="0" smtClean="0">
                <a:latin typeface="Georgia" panose="02040502050405020303" pitchFamily="18" charset="0"/>
              </a:rPr>
              <a:t>Reading technical and research documents carefully</a:t>
            </a:r>
          </a:p>
          <a:p>
            <a:pPr>
              <a:buFont typeface="Wingdings" panose="05000000000000000000" pitchFamily="2" charset="2"/>
              <a:buChar char="Ø"/>
            </a:pPr>
            <a:r>
              <a:rPr lang="en-US" sz="2800" dirty="0" smtClean="0">
                <a:latin typeface="Georgia" panose="02040502050405020303" pitchFamily="18" charset="0"/>
              </a:rPr>
              <a:t>Skimming and scanning method for quick reading</a:t>
            </a:r>
          </a:p>
          <a:p>
            <a:pPr>
              <a:buFont typeface="Wingdings" panose="05000000000000000000" pitchFamily="2" charset="2"/>
              <a:buChar char="Ø"/>
            </a:pPr>
            <a:r>
              <a:rPr lang="en-US" sz="2800" dirty="0" smtClean="0">
                <a:latin typeface="Georgia" panose="02040502050405020303" pitchFamily="18" charset="0"/>
              </a:rPr>
              <a:t>Importance of grammar in technical communication </a:t>
            </a:r>
          </a:p>
          <a:p>
            <a:pPr>
              <a:buFont typeface="Wingdings" panose="05000000000000000000" pitchFamily="2" charset="2"/>
              <a:buChar char="Ø"/>
            </a:pPr>
            <a:r>
              <a:rPr lang="en-US" sz="2800" dirty="0" smtClean="0">
                <a:latin typeface="Georgia" panose="02040502050405020303" pitchFamily="18" charset="0"/>
              </a:rPr>
              <a:t>Writing emails, letters</a:t>
            </a:r>
          </a:p>
          <a:p>
            <a:pPr>
              <a:buFont typeface="Wingdings" panose="05000000000000000000" pitchFamily="2" charset="2"/>
              <a:buChar char="Ø"/>
            </a:pPr>
            <a:r>
              <a:rPr lang="en-US" sz="2800" dirty="0" smtClean="0">
                <a:latin typeface="Georgia" panose="02040502050405020303" pitchFamily="18" charset="0"/>
              </a:rPr>
              <a:t>Precis writing and summarization</a:t>
            </a:r>
          </a:p>
          <a:p>
            <a:pPr marL="0" indent="0">
              <a:buNone/>
            </a:pPr>
            <a:endParaRPr lang="en-US" sz="2800" dirty="0">
              <a:latin typeface="Georgia" panose="02040502050405020303" pitchFamily="18" charset="0"/>
            </a:endParaRPr>
          </a:p>
          <a:p>
            <a:pPr marL="0" indent="0">
              <a:buNone/>
            </a:pPr>
            <a:endParaRPr lang="en-US" dirty="0">
              <a:latin typeface="Georgia" panose="02040502050405020303" pitchFamily="18" charset="0"/>
            </a:endParaRPr>
          </a:p>
          <a:p>
            <a:endParaRPr lang="en-US" dirty="0"/>
          </a:p>
          <a:p>
            <a:endParaRPr lang="en-IN" dirty="0"/>
          </a:p>
        </p:txBody>
      </p:sp>
      <p:pic>
        <p:nvPicPr>
          <p:cNvPr id="4" name="Picture 3">
            <a:extLst>
              <a:ext uri="{FF2B5EF4-FFF2-40B4-BE49-F238E27FC236}">
                <a16:creationId xmlns:a16="http://schemas.microsoft.com/office/drawing/2014/main" id="{EA440602-D3C2-DBBE-6963-265A3C1E8749}"/>
              </a:ext>
            </a:extLst>
          </p:cNvPr>
          <p:cNvPicPr>
            <a:picLocks noChangeAspect="1"/>
          </p:cNvPicPr>
          <p:nvPr/>
        </p:nvPicPr>
        <p:blipFill>
          <a:blip r:embed="rId2"/>
          <a:stretch>
            <a:fillRect/>
          </a:stretch>
        </p:blipFill>
        <p:spPr>
          <a:xfrm>
            <a:off x="6564086" y="1988459"/>
            <a:ext cx="4201886" cy="42018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31397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88BAB-F225-6F53-BF16-1D17FE3F16E5}"/>
              </a:ext>
            </a:extLst>
          </p:cNvPr>
          <p:cNvSpPr>
            <a:spLocks noGrp="1"/>
          </p:cNvSpPr>
          <p:nvPr>
            <p:ph type="title"/>
          </p:nvPr>
        </p:nvSpPr>
        <p:spPr/>
        <p:txBody>
          <a:bodyPr/>
          <a:lstStyle/>
          <a:p>
            <a:r>
              <a:rPr lang="en-IN" dirty="0">
                <a:latin typeface="Georgia" panose="02040502050405020303" pitchFamily="18" charset="0"/>
              </a:rPr>
              <a:t>Module 4: Reading and Writing</a:t>
            </a:r>
          </a:p>
        </p:txBody>
      </p:sp>
      <p:sp>
        <p:nvSpPr>
          <p:cNvPr id="3" name="Content Placeholder 2">
            <a:extLst>
              <a:ext uri="{FF2B5EF4-FFF2-40B4-BE49-F238E27FC236}">
                <a16:creationId xmlns:a16="http://schemas.microsoft.com/office/drawing/2014/main" id="{835648F3-DCBD-3612-DC6B-9A879C8134BC}"/>
              </a:ext>
            </a:extLst>
          </p:cNvPr>
          <p:cNvSpPr>
            <a:spLocks noGrp="1"/>
          </p:cNvSpPr>
          <p:nvPr>
            <p:ph idx="1"/>
          </p:nvPr>
        </p:nvSpPr>
        <p:spPr>
          <a:xfrm>
            <a:off x="1097281" y="2108201"/>
            <a:ext cx="5706290" cy="3760891"/>
          </a:xfrm>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Writing research papers, dissertation and thesis</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Organizing references, developing a bibliography and styling</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Tips for publishing papers in journals</a:t>
            </a:r>
          </a:p>
        </p:txBody>
      </p:sp>
      <p:pic>
        <p:nvPicPr>
          <p:cNvPr id="4" name="Picture 3">
            <a:hlinkClick r:id="rId2"/>
            <a:extLst>
              <a:ext uri="{FF2B5EF4-FFF2-40B4-BE49-F238E27FC236}">
                <a16:creationId xmlns:a16="http://schemas.microsoft.com/office/drawing/2014/main" id="{281CC761-BEE7-4438-0454-E7DB20F93EE2}"/>
              </a:ext>
            </a:extLst>
          </p:cNvPr>
          <p:cNvPicPr>
            <a:picLocks noChangeAspect="1"/>
          </p:cNvPicPr>
          <p:nvPr/>
        </p:nvPicPr>
        <p:blipFill>
          <a:blip r:embed="rId3"/>
          <a:stretch>
            <a:fillRect/>
          </a:stretch>
        </p:blipFill>
        <p:spPr>
          <a:xfrm>
            <a:off x="7097486" y="1970314"/>
            <a:ext cx="4778828" cy="4082143"/>
          </a:xfrm>
          <a:prstGeom prst="rect">
            <a:avLst/>
          </a:prstGeom>
        </p:spPr>
      </p:pic>
    </p:spTree>
    <p:extLst>
      <p:ext uri="{BB962C8B-B14F-4D97-AF65-F5344CB8AC3E}">
        <p14:creationId xmlns:p14="http://schemas.microsoft.com/office/powerpoint/2010/main" val="2364860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E74C-D84A-CC0C-8E30-B04A844D603B}"/>
              </a:ext>
            </a:extLst>
          </p:cNvPr>
          <p:cNvSpPr>
            <a:spLocks noGrp="1"/>
          </p:cNvSpPr>
          <p:nvPr>
            <p:ph type="title"/>
          </p:nvPr>
        </p:nvSpPr>
        <p:spPr/>
        <p:txBody>
          <a:bodyPr/>
          <a:lstStyle/>
          <a:p>
            <a:r>
              <a:rPr lang="en-IN" dirty="0">
                <a:latin typeface="Georgia" panose="02040502050405020303" pitchFamily="18" charset="0"/>
              </a:rPr>
              <a:t>Module </a:t>
            </a:r>
            <a:r>
              <a:rPr lang="en-IN" dirty="0" smtClean="0">
                <a:latin typeface="Georgia" panose="02040502050405020303" pitchFamily="18" charset="0"/>
              </a:rPr>
              <a:t>5:Presenting Research</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1FA1E66D-0344-C1A1-DE16-20C43823C470}"/>
              </a:ext>
            </a:extLst>
          </p:cNvPr>
          <p:cNvSpPr>
            <a:spLocks noGrp="1"/>
          </p:cNvSpPr>
          <p:nvPr>
            <p:ph idx="1"/>
          </p:nvPr>
        </p:nvSpPr>
        <p:spPr>
          <a:xfrm>
            <a:off x="1097280" y="2108201"/>
            <a:ext cx="5945777" cy="3760891"/>
          </a:xfrm>
        </p:spPr>
        <p:txBody>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Writing and presenting a paper in a conference</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Poster presentation techniques. </a:t>
            </a:r>
          </a:p>
          <a:p>
            <a:pPr>
              <a:buFont typeface="Wingdings" panose="05000000000000000000" pitchFamily="2" charset="2"/>
              <a:buChar char="Ø"/>
            </a:pPr>
            <a:endParaRPr lang="en-US" dirty="0"/>
          </a:p>
          <a:p>
            <a:endParaRPr lang="en-IN" dirty="0"/>
          </a:p>
        </p:txBody>
      </p:sp>
      <p:pic>
        <p:nvPicPr>
          <p:cNvPr id="4" name="Picture 3">
            <a:hlinkClick r:id="rId2"/>
            <a:extLst>
              <a:ext uri="{FF2B5EF4-FFF2-40B4-BE49-F238E27FC236}">
                <a16:creationId xmlns:a16="http://schemas.microsoft.com/office/drawing/2014/main" id="{7EF2CE3E-7725-2F4F-D1B1-1F8DCAC646B0}"/>
              </a:ext>
            </a:extLst>
          </p:cNvPr>
          <p:cNvPicPr>
            <a:picLocks noChangeAspect="1"/>
          </p:cNvPicPr>
          <p:nvPr/>
        </p:nvPicPr>
        <p:blipFill>
          <a:blip r:embed="rId3"/>
          <a:stretch>
            <a:fillRect/>
          </a:stretch>
        </p:blipFill>
        <p:spPr>
          <a:xfrm>
            <a:off x="7511143" y="2083646"/>
            <a:ext cx="3810000" cy="3810000"/>
          </a:xfrm>
          <a:prstGeom prst="rect">
            <a:avLst/>
          </a:prstGeom>
        </p:spPr>
      </p:pic>
    </p:spTree>
    <p:extLst>
      <p:ext uri="{BB962C8B-B14F-4D97-AF65-F5344CB8AC3E}">
        <p14:creationId xmlns:p14="http://schemas.microsoft.com/office/powerpoint/2010/main" val="159045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AD75F-107A-D6FB-C866-A7E7A9A4B1E0}"/>
              </a:ext>
            </a:extLst>
          </p:cNvPr>
          <p:cNvSpPr>
            <a:spLocks noGrp="1"/>
          </p:cNvSpPr>
          <p:nvPr>
            <p:ph type="title"/>
          </p:nvPr>
        </p:nvSpPr>
        <p:spPr/>
        <p:txBody>
          <a:bodyPr/>
          <a:lstStyle/>
          <a:p>
            <a:r>
              <a:rPr lang="en-IN" dirty="0">
                <a:latin typeface="Georgia" panose="02040502050405020303" pitchFamily="18" charset="0"/>
              </a:rPr>
              <a:t>Module </a:t>
            </a:r>
            <a:r>
              <a:rPr lang="en-IN" dirty="0" smtClean="0">
                <a:latin typeface="Georgia" panose="02040502050405020303" pitchFamily="18" charset="0"/>
              </a:rPr>
              <a:t>6:Career Communication</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E7747DCF-8428-4FE6-B616-E0708220A7B9}"/>
              </a:ext>
            </a:extLst>
          </p:cNvPr>
          <p:cNvSpPr>
            <a:spLocks noGrp="1"/>
          </p:cNvSpPr>
          <p:nvPr>
            <p:ph idx="1"/>
          </p:nvPr>
        </p:nvSpPr>
        <p:spPr>
          <a:xfrm>
            <a:off x="1197428" y="2220686"/>
            <a:ext cx="9958251" cy="3331028"/>
          </a:xfrm>
        </p:spPr>
        <p:txBody>
          <a:bodyPr>
            <a:normAutofit lnSpcReduction="10000"/>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Making a resume or CV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Types of interviews and tips for acing them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Group Communication: Organizational GD</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Professional networking</a:t>
            </a:r>
          </a:p>
          <a:p>
            <a:pPr>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LinkedIn profile</a:t>
            </a:r>
            <a:endParaRPr lang="en-US" sz="3200" dirty="0">
              <a:latin typeface="Times New Roman" panose="02020603050405020304" pitchFamily="18" charset="0"/>
              <a:cs typeface="Times New Roman" panose="02020603050405020304" pitchFamily="18" charset="0"/>
            </a:endParaRPr>
          </a:p>
          <a:p>
            <a:endParaRPr lang="en-US" dirty="0"/>
          </a:p>
          <a:p>
            <a:endParaRPr lang="en-IN" dirty="0"/>
          </a:p>
        </p:txBody>
      </p:sp>
    </p:spTree>
    <p:extLst>
      <p:ext uri="{BB962C8B-B14F-4D97-AF65-F5344CB8AC3E}">
        <p14:creationId xmlns:p14="http://schemas.microsoft.com/office/powerpoint/2010/main" val="93776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5DAF-544A-7EE2-AC76-436937A1F72E}"/>
              </a:ext>
            </a:extLst>
          </p:cNvPr>
          <p:cNvSpPr>
            <a:spLocks noGrp="1"/>
          </p:cNvSpPr>
          <p:nvPr>
            <p:ph type="title"/>
          </p:nvPr>
        </p:nvSpPr>
        <p:spPr/>
        <p:txBody>
          <a:bodyPr/>
          <a:lstStyle/>
          <a:p>
            <a:r>
              <a:rPr lang="en-IN" dirty="0">
                <a:latin typeface="Georgia" panose="02040502050405020303" pitchFamily="18" charset="0"/>
              </a:rPr>
              <a:t>Can you identify the use of the following </a:t>
            </a:r>
            <a:r>
              <a:rPr lang="en-IN" dirty="0" err="1" smtClean="0">
                <a:latin typeface="Georgia" panose="02040502050405020303" pitchFamily="18" charset="0"/>
              </a:rPr>
              <a:t>softwares</a:t>
            </a:r>
            <a:r>
              <a:rPr lang="en-IN" dirty="0" smtClean="0">
                <a:latin typeface="Georgia" panose="02040502050405020303" pitchFamily="18" charset="0"/>
              </a:rPr>
              <a:t>? </a:t>
            </a:r>
            <a:endParaRPr lang="en-IN" dirty="0">
              <a:latin typeface="Georgia" panose="02040502050405020303" pitchFamily="18" charset="0"/>
            </a:endParaRPr>
          </a:p>
        </p:txBody>
      </p:sp>
      <p:pic>
        <p:nvPicPr>
          <p:cNvPr id="4" name="Content Placeholder 3">
            <a:extLst>
              <a:ext uri="{FF2B5EF4-FFF2-40B4-BE49-F238E27FC236}">
                <a16:creationId xmlns:a16="http://schemas.microsoft.com/office/drawing/2014/main" id="{DA160319-D02B-7010-A2E7-B0E48D105D0D}"/>
              </a:ext>
            </a:extLst>
          </p:cNvPr>
          <p:cNvPicPr>
            <a:picLocks noGrp="1" noChangeAspect="1"/>
          </p:cNvPicPr>
          <p:nvPr>
            <p:ph idx="1"/>
          </p:nvPr>
        </p:nvPicPr>
        <p:blipFill>
          <a:blip r:embed="rId2"/>
          <a:stretch>
            <a:fillRect/>
          </a:stretch>
        </p:blipFill>
        <p:spPr>
          <a:xfrm>
            <a:off x="2140017" y="3605122"/>
            <a:ext cx="3028950" cy="1514475"/>
          </a:xfrm>
          <a:prstGeom prst="rect">
            <a:avLst/>
          </a:prstGeom>
        </p:spPr>
      </p:pic>
      <p:pic>
        <p:nvPicPr>
          <p:cNvPr id="5" name="Picture 4">
            <a:extLst>
              <a:ext uri="{FF2B5EF4-FFF2-40B4-BE49-F238E27FC236}">
                <a16:creationId xmlns:a16="http://schemas.microsoft.com/office/drawing/2014/main" id="{AAF29B47-471E-C860-6907-CBF93BC338D1}"/>
              </a:ext>
            </a:extLst>
          </p:cNvPr>
          <p:cNvPicPr>
            <a:picLocks noChangeAspect="1"/>
          </p:cNvPicPr>
          <p:nvPr/>
        </p:nvPicPr>
        <p:blipFill>
          <a:blip r:embed="rId3"/>
          <a:stretch>
            <a:fillRect/>
          </a:stretch>
        </p:blipFill>
        <p:spPr>
          <a:xfrm>
            <a:off x="5990122" y="2328681"/>
            <a:ext cx="3714750" cy="1228725"/>
          </a:xfrm>
          <a:prstGeom prst="rect">
            <a:avLst/>
          </a:prstGeom>
        </p:spPr>
      </p:pic>
    </p:spTree>
    <p:extLst>
      <p:ext uri="{BB962C8B-B14F-4D97-AF65-F5344CB8AC3E}">
        <p14:creationId xmlns:p14="http://schemas.microsoft.com/office/powerpoint/2010/main" val="2770824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3179" y="922421"/>
            <a:ext cx="7876674" cy="353943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buFont typeface="Arial" panose="020B0604020202020204" pitchFamily="34" charset="0"/>
              <a:buChar char="•"/>
            </a:pPr>
            <a:r>
              <a:rPr lang="en-US" sz="2800" dirty="0">
                <a:latin typeface="Georgia" panose="02040502050405020303" pitchFamily="18" charset="0"/>
              </a:rPr>
              <a:t>Overleaf is a collaborative cloud-based </a:t>
            </a:r>
            <a:r>
              <a:rPr lang="en-US" sz="2800" dirty="0" err="1">
                <a:latin typeface="Georgia" panose="02040502050405020303" pitchFamily="18" charset="0"/>
              </a:rPr>
              <a:t>LaTeX</a:t>
            </a:r>
            <a:r>
              <a:rPr lang="en-US" sz="2800" dirty="0">
                <a:latin typeface="Georgia" panose="02040502050405020303" pitchFamily="18" charset="0"/>
              </a:rPr>
              <a:t> editor used for writing, editing and publishing scientific documents</a:t>
            </a:r>
            <a:r>
              <a:rPr lang="en-US" sz="2800" dirty="0" smtClean="0">
                <a:latin typeface="Georgia" panose="02040502050405020303" pitchFamily="18" charset="0"/>
              </a:rPr>
              <a:t>.</a:t>
            </a:r>
          </a:p>
          <a:p>
            <a:pPr marL="285750" indent="-285750">
              <a:buFont typeface="Arial" panose="020B0604020202020204" pitchFamily="34" charset="0"/>
              <a:buChar char="•"/>
            </a:pPr>
            <a:endParaRPr lang="en-US" sz="2800" dirty="0" smtClean="0">
              <a:latin typeface="Georgia" panose="02040502050405020303" pitchFamily="18" charset="0"/>
            </a:endParaRPr>
          </a:p>
          <a:p>
            <a:pPr marL="285750" indent="-285750">
              <a:buFont typeface="Arial" panose="020B0604020202020204" pitchFamily="34" charset="0"/>
              <a:buChar char="•"/>
            </a:pPr>
            <a:r>
              <a:rPr lang="en-US" sz="2800" dirty="0" err="1">
                <a:latin typeface="Georgia" panose="02040502050405020303" pitchFamily="18" charset="0"/>
              </a:rPr>
              <a:t>Zotero</a:t>
            </a:r>
            <a:r>
              <a:rPr lang="en-US" sz="2800" dirty="0">
                <a:latin typeface="Georgia" panose="02040502050405020303" pitchFamily="18" charset="0"/>
              </a:rPr>
              <a:t> is free and open-source reference management software to manage bibliographic data and related research materials, such as PDF and </a:t>
            </a:r>
            <a:r>
              <a:rPr lang="en-US" sz="2800" dirty="0" err="1">
                <a:latin typeface="Georgia" panose="02040502050405020303" pitchFamily="18" charset="0"/>
              </a:rPr>
              <a:t>ePUB</a:t>
            </a:r>
            <a:r>
              <a:rPr lang="en-US" sz="2800" dirty="0">
                <a:latin typeface="Georgia" panose="02040502050405020303" pitchFamily="18" charset="0"/>
              </a:rPr>
              <a:t> files</a:t>
            </a:r>
            <a:endParaRPr lang="en-IN" sz="2800" dirty="0">
              <a:latin typeface="Georgia" panose="02040502050405020303" pitchFamily="18" charset="0"/>
            </a:endParaRPr>
          </a:p>
        </p:txBody>
      </p:sp>
    </p:spTree>
    <p:extLst>
      <p:ext uri="{BB962C8B-B14F-4D97-AF65-F5344CB8AC3E}">
        <p14:creationId xmlns:p14="http://schemas.microsoft.com/office/powerpoint/2010/main" val="3039083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4925-F6CF-EAEC-F459-3B4512607BAD}"/>
              </a:ext>
            </a:extLst>
          </p:cNvPr>
          <p:cNvSpPr>
            <a:spLocks noGrp="1"/>
          </p:cNvSpPr>
          <p:nvPr>
            <p:ph type="title"/>
          </p:nvPr>
        </p:nvSpPr>
        <p:spPr/>
        <p:txBody>
          <a:bodyPr/>
          <a:lstStyle/>
          <a:p>
            <a:r>
              <a:rPr lang="en-IN" dirty="0">
                <a:latin typeface="Georgia" panose="02040502050405020303" pitchFamily="18" charset="0"/>
              </a:rPr>
              <a:t>Module </a:t>
            </a:r>
            <a:r>
              <a:rPr lang="en-IN" dirty="0" smtClean="0">
                <a:latin typeface="Georgia" panose="02040502050405020303" pitchFamily="18" charset="0"/>
              </a:rPr>
              <a:t>7: Workplace Communication</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E9BB5048-EF39-15D2-4F18-9A40D4AF5871}"/>
              </a:ext>
            </a:extLst>
          </p:cNvPr>
          <p:cNvSpPr>
            <a:spLocks noGrp="1"/>
          </p:cNvSpPr>
          <p:nvPr>
            <p:ph idx="1"/>
          </p:nvPr>
        </p:nvSpPr>
        <p:spPr>
          <a:xfrm>
            <a:off x="1097280" y="2108201"/>
            <a:ext cx="8895806" cy="3760891"/>
          </a:xfrm>
        </p:spPr>
        <p:txBody>
          <a:bodyPr/>
          <a:lstStyle/>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Meetings, negotiations</a:t>
            </a: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Technical proposals and reports</a:t>
            </a: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Ethics in technical communication</a:t>
            </a: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AI tools in communication</a:t>
            </a: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Introduction to </a:t>
            </a:r>
            <a:r>
              <a:rPr lang="en-US" sz="2800" dirty="0" err="1" smtClean="0">
                <a:latin typeface="Times New Roman" panose="02020603050405020304" pitchFamily="18" charset="0"/>
                <a:cs typeface="Times New Roman" panose="02020603050405020304" pitchFamily="18" charset="0"/>
              </a:rPr>
              <a:t>LibreOffice</a:t>
            </a:r>
            <a:r>
              <a:rPr lang="en-US" sz="2800" dirty="0">
                <a:latin typeface="Times New Roman" panose="02020603050405020304" pitchFamily="18" charset="0"/>
                <a:cs typeface="Times New Roman" panose="02020603050405020304" pitchFamily="18" charset="0"/>
              </a:rPr>
              <a:t>, Suite, Markdown, LATEX and Beamer.</a:t>
            </a:r>
          </a:p>
          <a:p>
            <a:pPr>
              <a:buFont typeface="Wingdings" panose="05000000000000000000" pitchFamily="2" charset="2"/>
              <a:buChar char="Ø"/>
            </a:pPr>
            <a:endParaRPr lang="en-US" dirty="0"/>
          </a:p>
          <a:p>
            <a:endParaRPr lang="en-IN" dirty="0"/>
          </a:p>
        </p:txBody>
      </p:sp>
    </p:spTree>
    <p:extLst>
      <p:ext uri="{BB962C8B-B14F-4D97-AF65-F5344CB8AC3E}">
        <p14:creationId xmlns:p14="http://schemas.microsoft.com/office/powerpoint/2010/main" val="2654360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2B3F5-D732-B552-1B06-EA94202C0FCF}"/>
              </a:ext>
            </a:extLst>
          </p:cNvPr>
          <p:cNvSpPr>
            <a:spLocks noGrp="1"/>
          </p:cNvSpPr>
          <p:nvPr>
            <p:ph type="title"/>
          </p:nvPr>
        </p:nvSpPr>
        <p:spPr/>
        <p:txBody>
          <a:bodyPr>
            <a:normAutofit/>
          </a:bodyPr>
          <a:lstStyle/>
          <a:p>
            <a:r>
              <a:rPr lang="en-IN" sz="4400" dirty="0" smtClean="0">
                <a:latin typeface="Georgia" panose="02040502050405020303" pitchFamily="18" charset="0"/>
              </a:rPr>
              <a:t>Grading Policy</a:t>
            </a:r>
            <a:endParaRPr lang="en-IN" sz="4400" dirty="0">
              <a:latin typeface="Georgia" panose="02040502050405020303" pitchFamily="18" charset="0"/>
            </a:endParaRPr>
          </a:p>
        </p:txBody>
      </p:sp>
      <p:sp>
        <p:nvSpPr>
          <p:cNvPr id="3" name="Content Placeholder 2">
            <a:extLst>
              <a:ext uri="{FF2B5EF4-FFF2-40B4-BE49-F238E27FC236}">
                <a16:creationId xmlns:a16="http://schemas.microsoft.com/office/drawing/2014/main" id="{C8BC3CE5-FD09-C8F8-A82A-0516005E1EB9}"/>
              </a:ext>
            </a:extLst>
          </p:cNvPr>
          <p:cNvSpPr>
            <a:spLocks noGrp="1"/>
          </p:cNvSpPr>
          <p:nvPr>
            <p:ph idx="1"/>
          </p:nvPr>
        </p:nvSpPr>
        <p:spPr/>
        <p:txBody>
          <a:bodyPr/>
          <a:lstStyle/>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Participation in 2 in-</a:t>
            </a:r>
            <a:r>
              <a:rPr lang="en-US" sz="2800" dirty="0" smtClean="0">
                <a:latin typeface="Times New Roman" panose="02020603050405020304" pitchFamily="18" charset="0"/>
                <a:cs typeface="Times New Roman" panose="02020603050405020304" pitchFamily="18" charset="0"/>
              </a:rPr>
              <a:t>class </a:t>
            </a:r>
            <a:r>
              <a:rPr lang="en-US" sz="2800" dirty="0" smtClean="0">
                <a:latin typeface="Times New Roman" panose="02020603050405020304" pitchFamily="18" charset="0"/>
                <a:cs typeface="Times New Roman" panose="02020603050405020304" pitchFamily="18" charset="0"/>
              </a:rPr>
              <a:t>activities: </a:t>
            </a:r>
            <a:r>
              <a:rPr lang="en-US" sz="2800" dirty="0">
                <a:latin typeface="Times New Roman" panose="02020603050405020304" pitchFamily="18" charset="0"/>
                <a:cs typeface="Times New Roman" panose="02020603050405020304" pitchFamily="18" charset="0"/>
              </a:rPr>
              <a:t>30%</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In-Sem. Exam 2: 30%</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End-Sem. Project: </a:t>
            </a:r>
            <a:r>
              <a:rPr lang="en-US" sz="2800" dirty="0" smtClean="0">
                <a:latin typeface="Times New Roman" panose="02020603050405020304" pitchFamily="18" charset="0"/>
                <a:cs typeface="Times New Roman" panose="02020603050405020304" pitchFamily="18" charset="0"/>
              </a:rPr>
              <a:t>40%</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If </a:t>
            </a:r>
            <a:r>
              <a:rPr lang="en-US" sz="2800" dirty="0">
                <a:latin typeface="Times New Roman" panose="02020603050405020304" pitchFamily="18" charset="0"/>
                <a:cs typeface="Times New Roman" panose="02020603050405020304" pitchFamily="18" charset="0"/>
              </a:rPr>
              <a:t>any instance of plagiarism, </a:t>
            </a:r>
            <a:r>
              <a:rPr lang="en-US" sz="2800" dirty="0" smtClean="0">
                <a:latin typeface="Times New Roman" panose="02020603050405020304" pitchFamily="18" charset="0"/>
                <a:cs typeface="Times New Roman" panose="02020603050405020304" pitchFamily="18" charset="0"/>
              </a:rPr>
              <a:t>copying, </a:t>
            </a:r>
            <a:r>
              <a:rPr lang="en-US" sz="2800" dirty="0">
                <a:latin typeface="Times New Roman" panose="02020603050405020304" pitchFamily="18" charset="0"/>
                <a:cs typeface="Times New Roman" panose="02020603050405020304" pitchFamily="18" charset="0"/>
              </a:rPr>
              <a:t>and cheating is detected an “F” would be given as the final </a:t>
            </a:r>
            <a:r>
              <a:rPr lang="en-US" sz="2800" dirty="0" smtClean="0">
                <a:latin typeface="Times New Roman" panose="02020603050405020304" pitchFamily="18" charset="0"/>
                <a:cs typeface="Times New Roman" panose="02020603050405020304" pitchFamily="18" charset="0"/>
              </a:rPr>
              <a:t>grade.</a:t>
            </a:r>
            <a:endParaRPr lang="en-US"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19458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94F44-C07F-E68F-B01F-594F0194D111}"/>
              </a:ext>
            </a:extLst>
          </p:cNvPr>
          <p:cNvSpPr>
            <a:spLocks noGrp="1"/>
          </p:cNvSpPr>
          <p:nvPr>
            <p:ph type="title"/>
          </p:nvPr>
        </p:nvSpPr>
        <p:spPr/>
        <p:txBody>
          <a:bodyPr/>
          <a:lstStyle/>
          <a:p>
            <a:r>
              <a:rPr lang="en-US" dirty="0" smtClean="0">
                <a:latin typeface="Georgia" panose="02040502050405020303" pitchFamily="18" charset="0"/>
              </a:rPr>
              <a:t>Participation in class activities</a:t>
            </a:r>
            <a:endParaRPr lang="en-IN" dirty="0">
              <a:latin typeface="Georgia" panose="02040502050405020303" pitchFamily="18" charset="0"/>
            </a:endParaRPr>
          </a:p>
        </p:txBody>
      </p:sp>
      <p:sp>
        <p:nvSpPr>
          <p:cNvPr id="3" name="Content Placeholder 2">
            <a:extLst>
              <a:ext uri="{FF2B5EF4-FFF2-40B4-BE49-F238E27FC236}">
                <a16:creationId xmlns:a16="http://schemas.microsoft.com/office/drawing/2014/main" id="{BFAF8D74-940A-5FF0-A5C6-8232C9F8843B}"/>
              </a:ext>
            </a:extLst>
          </p:cNvPr>
          <p:cNvSpPr>
            <a:spLocks noGrp="1"/>
          </p:cNvSpPr>
          <p:nvPr>
            <p:ph idx="1"/>
          </p:nvPr>
        </p:nvSpPr>
        <p:spPr/>
        <p:txBody>
          <a:bodyPr>
            <a:normAutofit/>
          </a:bodyPr>
          <a:lstStyle/>
          <a:p>
            <a:pPr>
              <a:buFont typeface="Wingdings" panose="05000000000000000000" pitchFamily="2" charset="2"/>
              <a:buChar char="Ø"/>
            </a:pPr>
            <a:r>
              <a:rPr lang="en-IN" sz="3200" dirty="0" smtClean="0">
                <a:latin typeface="Times New Roman" panose="02020603050405020304" pitchFamily="18" charset="0"/>
                <a:cs typeface="Times New Roman" panose="02020603050405020304" pitchFamily="18" charset="0"/>
              </a:rPr>
              <a:t>Participation </a:t>
            </a:r>
            <a:r>
              <a:rPr lang="en-IN" sz="3200" dirty="0">
                <a:latin typeface="Times New Roman" panose="02020603050405020304" pitchFamily="18" charset="0"/>
                <a:cs typeface="Times New Roman" panose="02020603050405020304" pitchFamily="18" charset="0"/>
              </a:rPr>
              <a:t>of students in class discussions ensures effective learning. Hence, all of you are encouraged to attend and participate in class regularly.</a:t>
            </a:r>
          </a:p>
        </p:txBody>
      </p:sp>
    </p:spTree>
    <p:extLst>
      <p:ext uri="{BB962C8B-B14F-4D97-AF65-F5344CB8AC3E}">
        <p14:creationId xmlns:p14="http://schemas.microsoft.com/office/powerpoint/2010/main" val="4255798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51D5D-5B71-42E2-B5E5-209F0D25B3ED}"/>
              </a:ext>
            </a:extLst>
          </p:cNvPr>
          <p:cNvSpPr>
            <a:spLocks noGrp="1"/>
          </p:cNvSpPr>
          <p:nvPr>
            <p:ph type="title"/>
          </p:nvPr>
        </p:nvSpPr>
        <p:spPr/>
        <p:txBody>
          <a:bodyPr/>
          <a:lstStyle/>
          <a:p>
            <a:r>
              <a:rPr lang="en-IN" dirty="0">
                <a:latin typeface="Georgia" panose="02040502050405020303" pitchFamily="18" charset="0"/>
              </a:rPr>
              <a:t>Essential readings</a:t>
            </a:r>
          </a:p>
        </p:txBody>
      </p:sp>
      <p:sp>
        <p:nvSpPr>
          <p:cNvPr id="3" name="Content Placeholder 2">
            <a:extLst>
              <a:ext uri="{FF2B5EF4-FFF2-40B4-BE49-F238E27FC236}">
                <a16:creationId xmlns:a16="http://schemas.microsoft.com/office/drawing/2014/main" id="{B0A4095A-5E20-6C67-5E99-85F3D3B80777}"/>
              </a:ext>
            </a:extLst>
          </p:cNvPr>
          <p:cNvSpPr>
            <a:spLocks noGrp="1"/>
          </p:cNvSpPr>
          <p:nvPr>
            <p:ph idx="1"/>
          </p:nvPr>
        </p:nvSpPr>
        <p:spPr/>
        <p:txBody>
          <a:bodyPr>
            <a:normAutofit fontScale="77500" lnSpcReduction="20000"/>
          </a:bodyPr>
          <a:lstStyle/>
          <a:p>
            <a:pPr marL="457200" indent="-457200">
              <a:buFont typeface="+mj-lt"/>
              <a:buAutoNum type="arabicPeriod"/>
            </a:pPr>
            <a:r>
              <a:rPr lang="en-IN" sz="2100" dirty="0" smtClean="0">
                <a:latin typeface="Calibri" panose="020F0502020204030204" pitchFamily="34" charset="0"/>
                <a:ea typeface="Calibri" panose="020F0502020204030204" pitchFamily="34" charset="0"/>
                <a:cs typeface="Calibri" panose="020F0502020204030204" pitchFamily="34" charset="0"/>
              </a:rPr>
              <a:t>Raman</a:t>
            </a:r>
            <a:r>
              <a:rPr lang="en-IN" sz="2100" dirty="0">
                <a:latin typeface="Calibri" panose="020F0502020204030204" pitchFamily="34" charset="0"/>
                <a:ea typeface="Calibri" panose="020F0502020204030204" pitchFamily="34" charset="0"/>
                <a:cs typeface="Calibri" panose="020F0502020204030204" pitchFamily="34" charset="0"/>
              </a:rPr>
              <a:t>, Meenakshi and Sangeeta Sharma. </a:t>
            </a:r>
            <a:r>
              <a:rPr lang="en-IN" sz="2100" i="1" dirty="0">
                <a:latin typeface="Calibri" panose="020F0502020204030204" pitchFamily="34" charset="0"/>
                <a:ea typeface="Calibri" panose="020F0502020204030204" pitchFamily="34" charset="0"/>
                <a:cs typeface="Calibri" panose="020F0502020204030204" pitchFamily="34" charset="0"/>
              </a:rPr>
              <a:t>Technical Communication: Principles and Practice</a:t>
            </a:r>
            <a:r>
              <a:rPr lang="en-IN" sz="2100" dirty="0">
                <a:latin typeface="Calibri" panose="020F0502020204030204" pitchFamily="34" charset="0"/>
                <a:ea typeface="Calibri" panose="020F0502020204030204" pitchFamily="34" charset="0"/>
                <a:cs typeface="Calibri" panose="020F0502020204030204" pitchFamily="34" charset="0"/>
              </a:rPr>
              <a:t>. Second Edition. New Delhi: OUP, 2011. </a:t>
            </a:r>
          </a:p>
          <a:p>
            <a:pPr marL="457200" indent="-457200">
              <a:buFont typeface="+mj-lt"/>
              <a:buAutoNum type="arabicPeriod"/>
            </a:pPr>
            <a:r>
              <a:rPr lang="en-IN" sz="2100" dirty="0" smtClean="0">
                <a:latin typeface="Calibri" panose="020F0502020204030204" pitchFamily="34" charset="0"/>
                <a:ea typeface="Calibri" panose="020F0502020204030204" pitchFamily="34" charset="0"/>
                <a:cs typeface="Calibri" panose="020F0502020204030204" pitchFamily="34" charset="0"/>
              </a:rPr>
              <a:t>M</a:t>
            </a:r>
            <a:r>
              <a:rPr lang="en-IN" sz="2100" dirty="0">
                <a:latin typeface="Calibri" panose="020F0502020204030204" pitchFamily="34" charset="0"/>
                <a:ea typeface="Calibri" panose="020F0502020204030204" pitchFamily="34" charset="0"/>
                <a:cs typeface="Calibri" panose="020F0502020204030204" pitchFamily="34" charset="0"/>
              </a:rPr>
              <a:t>. Ashraf Rizvi, </a:t>
            </a:r>
            <a:r>
              <a:rPr lang="en-IN" sz="2100" i="1" dirty="0">
                <a:latin typeface="Calibri" panose="020F0502020204030204" pitchFamily="34" charset="0"/>
                <a:ea typeface="Calibri" panose="020F0502020204030204" pitchFamily="34" charset="0"/>
                <a:cs typeface="Calibri" panose="020F0502020204030204" pitchFamily="34" charset="0"/>
              </a:rPr>
              <a:t>Effective Technical Communication, Second Edition </a:t>
            </a:r>
            <a:r>
              <a:rPr lang="en-IN" sz="2100" dirty="0">
                <a:latin typeface="Calibri" panose="020F0502020204030204" pitchFamily="34" charset="0"/>
                <a:ea typeface="Calibri" panose="020F0502020204030204" pitchFamily="34" charset="0"/>
                <a:cs typeface="Calibri" panose="020F0502020204030204" pitchFamily="34" charset="0"/>
              </a:rPr>
              <a:t>(McGraw Hill Education Private Ltd. , 2018)</a:t>
            </a:r>
          </a:p>
          <a:p>
            <a:pPr marL="457200" indent="-457200">
              <a:buFont typeface="+mj-lt"/>
              <a:buAutoNum type="arabicPeriod"/>
            </a:pPr>
            <a:r>
              <a:rPr lang="en-IN" sz="2100" dirty="0">
                <a:latin typeface="Calibri" panose="020F0502020204030204" pitchFamily="34" charset="0"/>
                <a:ea typeface="Calibri" panose="020F0502020204030204" pitchFamily="34" charset="0"/>
                <a:cs typeface="Calibri" panose="020F0502020204030204" pitchFamily="34" charset="0"/>
              </a:rPr>
              <a:t>Elizabeth </a:t>
            </a:r>
            <a:r>
              <a:rPr lang="en-IN" sz="2100" dirty="0" err="1">
                <a:latin typeface="Calibri" panose="020F0502020204030204" pitchFamily="34" charset="0"/>
                <a:ea typeface="Calibri" panose="020F0502020204030204" pitchFamily="34" charset="0"/>
                <a:cs typeface="Calibri" panose="020F0502020204030204" pitchFamily="34" charset="0"/>
              </a:rPr>
              <a:t>Tebeaux</a:t>
            </a:r>
            <a:r>
              <a:rPr lang="en-IN" sz="2100" dirty="0">
                <a:latin typeface="Calibri" panose="020F0502020204030204" pitchFamily="34" charset="0"/>
                <a:ea typeface="Calibri" panose="020F0502020204030204" pitchFamily="34" charset="0"/>
                <a:cs typeface="Calibri" panose="020F0502020204030204" pitchFamily="34" charset="0"/>
              </a:rPr>
              <a:t> and Sam </a:t>
            </a:r>
            <a:r>
              <a:rPr lang="en-IN" sz="2100" dirty="0" err="1">
                <a:latin typeface="Calibri" panose="020F0502020204030204" pitchFamily="34" charset="0"/>
                <a:ea typeface="Calibri" panose="020F0502020204030204" pitchFamily="34" charset="0"/>
                <a:cs typeface="Calibri" panose="020F0502020204030204" pitchFamily="34" charset="0"/>
              </a:rPr>
              <a:t>Dragga</a:t>
            </a:r>
            <a:r>
              <a:rPr lang="en-IN" sz="2100" dirty="0">
                <a:latin typeface="Calibri" panose="020F0502020204030204" pitchFamily="34" charset="0"/>
                <a:ea typeface="Calibri" panose="020F0502020204030204" pitchFamily="34" charset="0"/>
                <a:cs typeface="Calibri" panose="020F0502020204030204" pitchFamily="34" charset="0"/>
              </a:rPr>
              <a:t> ed., </a:t>
            </a:r>
            <a:r>
              <a:rPr lang="en-IN" sz="2100" i="1" dirty="0">
                <a:latin typeface="Calibri" panose="020F0502020204030204" pitchFamily="34" charset="0"/>
                <a:ea typeface="Calibri" panose="020F0502020204030204" pitchFamily="34" charset="0"/>
                <a:cs typeface="Calibri" panose="020F0502020204030204" pitchFamily="34" charset="0"/>
              </a:rPr>
              <a:t>The Essentials of Technical Communication </a:t>
            </a:r>
            <a:r>
              <a:rPr lang="en-IN" sz="2100" dirty="0">
                <a:latin typeface="Calibri" panose="020F0502020204030204" pitchFamily="34" charset="0"/>
                <a:ea typeface="Calibri" panose="020F0502020204030204" pitchFamily="34" charset="0"/>
                <a:cs typeface="Calibri" panose="020F0502020204030204" pitchFamily="34" charset="0"/>
              </a:rPr>
              <a:t>(Oxford University Press, 2021).</a:t>
            </a:r>
          </a:p>
          <a:p>
            <a:pPr marL="457200" indent="-457200">
              <a:buFont typeface="+mj-lt"/>
              <a:buAutoNum type="arabicPeriod"/>
            </a:pPr>
            <a:r>
              <a:rPr lang="en-IN" sz="2100" dirty="0">
                <a:latin typeface="Calibri" panose="020F0502020204030204" pitchFamily="34" charset="0"/>
                <a:ea typeface="Calibri" panose="020F0502020204030204" pitchFamily="34" charset="0"/>
                <a:cs typeface="Calibri" panose="020F0502020204030204" pitchFamily="34" charset="0"/>
              </a:rPr>
              <a:t>Seth </a:t>
            </a:r>
            <a:r>
              <a:rPr lang="en-IN" sz="2100" dirty="0" err="1">
                <a:latin typeface="Calibri" panose="020F0502020204030204" pitchFamily="34" charset="0"/>
                <a:ea typeface="Calibri" panose="020F0502020204030204" pitchFamily="34" charset="0"/>
                <a:cs typeface="Calibri" panose="020F0502020204030204" pitchFamily="34" charset="0"/>
              </a:rPr>
              <a:t>Lindstromberg</a:t>
            </a:r>
            <a:r>
              <a:rPr lang="en-IN" sz="2100" dirty="0">
                <a:latin typeface="Calibri" panose="020F0502020204030204" pitchFamily="34" charset="0"/>
                <a:ea typeface="Calibri" panose="020F0502020204030204" pitchFamily="34" charset="0"/>
                <a:cs typeface="Calibri" panose="020F0502020204030204" pitchFamily="34" charset="0"/>
              </a:rPr>
              <a:t> ed., </a:t>
            </a:r>
            <a:r>
              <a:rPr lang="en-IN" sz="2100" i="1" dirty="0">
                <a:latin typeface="Calibri" panose="020F0502020204030204" pitchFamily="34" charset="0"/>
                <a:ea typeface="Calibri" panose="020F0502020204030204" pitchFamily="34" charset="0"/>
                <a:cs typeface="Calibri" panose="020F0502020204030204" pitchFamily="34" charset="0"/>
              </a:rPr>
              <a:t>The Standby book: Activities for the language classroom</a:t>
            </a:r>
            <a:r>
              <a:rPr lang="en-IN" sz="2100" dirty="0">
                <a:latin typeface="Calibri" panose="020F0502020204030204" pitchFamily="34" charset="0"/>
                <a:ea typeface="Calibri" panose="020F0502020204030204" pitchFamily="34" charset="0"/>
                <a:cs typeface="Calibri" panose="020F0502020204030204" pitchFamily="34" charset="0"/>
              </a:rPr>
              <a:t> (Cambridge University Press, 1997) . A later edition of this book would also be fine.</a:t>
            </a:r>
          </a:p>
          <a:p>
            <a:pPr marL="457200" indent="-457200">
              <a:buFont typeface="+mj-lt"/>
              <a:buAutoNum type="arabicPeriod"/>
            </a:pPr>
            <a:r>
              <a:rPr lang="en-IN" sz="2100" dirty="0">
                <a:latin typeface="Calibri" panose="020F0502020204030204" pitchFamily="34" charset="0"/>
                <a:ea typeface="Calibri" panose="020F0502020204030204" pitchFamily="34" charset="0"/>
                <a:cs typeface="Calibri" panose="020F0502020204030204" pitchFamily="34" charset="0"/>
              </a:rPr>
              <a:t>Mario </a:t>
            </a:r>
            <a:r>
              <a:rPr lang="en-IN" sz="2100" dirty="0" err="1">
                <a:latin typeface="Calibri" panose="020F0502020204030204" pitchFamily="34" charset="0"/>
                <a:ea typeface="Calibri" panose="020F0502020204030204" pitchFamily="34" charset="0"/>
                <a:cs typeface="Calibri" panose="020F0502020204030204" pitchFamily="34" charset="0"/>
              </a:rPr>
              <a:t>Linvolucri</a:t>
            </a:r>
            <a:r>
              <a:rPr lang="en-IN" sz="2100" dirty="0">
                <a:latin typeface="Calibri" panose="020F0502020204030204" pitchFamily="34" charset="0"/>
                <a:ea typeface="Calibri" panose="020F0502020204030204" pitchFamily="34" charset="0"/>
                <a:cs typeface="Calibri" panose="020F0502020204030204" pitchFamily="34" charset="0"/>
              </a:rPr>
              <a:t> and Paul Davis, </a:t>
            </a:r>
            <a:r>
              <a:rPr lang="en-IN" sz="2100" i="1" dirty="0">
                <a:latin typeface="Calibri" panose="020F0502020204030204" pitchFamily="34" charset="0"/>
                <a:ea typeface="Calibri" panose="020F0502020204030204" pitchFamily="34" charset="0"/>
                <a:cs typeface="Calibri" panose="020F0502020204030204" pitchFamily="34" charset="0"/>
              </a:rPr>
              <a:t>More Grammar Games: Cognitive, Affective and Movement activities for EFL students </a:t>
            </a:r>
            <a:r>
              <a:rPr lang="en-IN" sz="2100" dirty="0">
                <a:latin typeface="Calibri" panose="020F0502020204030204" pitchFamily="34" charset="0"/>
                <a:ea typeface="Calibri" panose="020F0502020204030204" pitchFamily="34" charset="0"/>
                <a:cs typeface="Calibri" panose="020F0502020204030204" pitchFamily="34" charset="0"/>
              </a:rPr>
              <a:t>(Cambridge University Press, 1995)</a:t>
            </a:r>
          </a:p>
          <a:p>
            <a:pPr marL="457200" indent="-457200">
              <a:buFont typeface="+mj-lt"/>
              <a:buAutoNum type="arabicPeriod"/>
            </a:pPr>
            <a:r>
              <a:rPr lang="en-IN" sz="2100" dirty="0">
                <a:latin typeface="Calibri" panose="020F0502020204030204" pitchFamily="34" charset="0"/>
                <a:ea typeface="Calibri" panose="020F0502020204030204" pitchFamily="34" charset="0"/>
                <a:cs typeface="Calibri" panose="020F0502020204030204" pitchFamily="34" charset="0"/>
              </a:rPr>
              <a:t>John </a:t>
            </a:r>
            <a:r>
              <a:rPr lang="en-IN" sz="2100" dirty="0" err="1">
                <a:latin typeface="Calibri" panose="020F0502020204030204" pitchFamily="34" charset="0"/>
                <a:ea typeface="Calibri" panose="020F0502020204030204" pitchFamily="34" charset="0"/>
                <a:cs typeface="Calibri" panose="020F0502020204030204" pitchFamily="34" charset="0"/>
              </a:rPr>
              <a:t>Seely</a:t>
            </a:r>
            <a:r>
              <a:rPr lang="en-IN" sz="2100" dirty="0">
                <a:latin typeface="Calibri" panose="020F0502020204030204" pitchFamily="34" charset="0"/>
                <a:ea typeface="Calibri" panose="020F0502020204030204" pitchFamily="34" charset="0"/>
                <a:cs typeface="Calibri" panose="020F0502020204030204" pitchFamily="34" charset="0"/>
              </a:rPr>
              <a:t>, </a:t>
            </a:r>
            <a:r>
              <a:rPr lang="en-IN" sz="2100" i="1" dirty="0">
                <a:latin typeface="Calibri" panose="020F0502020204030204" pitchFamily="34" charset="0"/>
                <a:ea typeface="Calibri" panose="020F0502020204030204" pitchFamily="34" charset="0"/>
                <a:cs typeface="Calibri" panose="020F0502020204030204" pitchFamily="34" charset="0"/>
              </a:rPr>
              <a:t>The Oxford Guide to Effective Writing and Speaking, Third Edition</a:t>
            </a:r>
            <a:r>
              <a:rPr lang="en-IN" sz="2100" dirty="0">
                <a:latin typeface="Calibri" panose="020F0502020204030204" pitchFamily="34" charset="0"/>
                <a:ea typeface="Calibri" panose="020F0502020204030204" pitchFamily="34" charset="0"/>
                <a:cs typeface="Calibri" panose="020F0502020204030204" pitchFamily="34" charset="0"/>
              </a:rPr>
              <a:t> (Oxford University Press, 2013).</a:t>
            </a:r>
          </a:p>
          <a:p>
            <a:pPr marL="457200" indent="-457200">
              <a:buFont typeface="+mj-lt"/>
              <a:buAutoNum type="arabicPeriod"/>
            </a:pPr>
            <a:r>
              <a:rPr lang="en-IN" sz="2100" dirty="0">
                <a:latin typeface="Calibri" panose="020F0502020204030204" pitchFamily="34" charset="0"/>
                <a:ea typeface="Calibri" panose="020F0502020204030204" pitchFamily="34" charset="0"/>
                <a:cs typeface="Calibri" panose="020F0502020204030204" pitchFamily="34" charset="0"/>
              </a:rPr>
              <a:t>Justin </a:t>
            </a:r>
            <a:r>
              <a:rPr lang="en-IN" sz="2100" dirty="0" err="1">
                <a:latin typeface="Calibri" panose="020F0502020204030204" pitchFamily="34" charset="0"/>
                <a:ea typeface="Calibri" panose="020F0502020204030204" pitchFamily="34" charset="0"/>
                <a:cs typeface="Calibri" panose="020F0502020204030204" pitchFamily="34" charset="0"/>
              </a:rPr>
              <a:t>Zobel</a:t>
            </a:r>
            <a:r>
              <a:rPr lang="en-IN" sz="2100" dirty="0">
                <a:latin typeface="Calibri" panose="020F0502020204030204" pitchFamily="34" charset="0"/>
                <a:ea typeface="Calibri" panose="020F0502020204030204" pitchFamily="34" charset="0"/>
                <a:cs typeface="Calibri" panose="020F0502020204030204" pitchFamily="34" charset="0"/>
              </a:rPr>
              <a:t>, </a:t>
            </a:r>
            <a:r>
              <a:rPr lang="en-IN" sz="2100" i="1" dirty="0">
                <a:latin typeface="Calibri" panose="020F0502020204030204" pitchFamily="34" charset="0"/>
                <a:ea typeface="Calibri" panose="020F0502020204030204" pitchFamily="34" charset="0"/>
                <a:cs typeface="Calibri" panose="020F0502020204030204" pitchFamily="34" charset="0"/>
              </a:rPr>
              <a:t>Writing for Computer Science, Third Edition </a:t>
            </a:r>
            <a:r>
              <a:rPr lang="en-IN" sz="2100" dirty="0">
                <a:latin typeface="Calibri" panose="020F0502020204030204" pitchFamily="34" charset="0"/>
                <a:ea typeface="Calibri" panose="020F0502020204030204" pitchFamily="34" charset="0"/>
                <a:cs typeface="Calibri" panose="020F0502020204030204" pitchFamily="34" charset="0"/>
              </a:rPr>
              <a:t>(Springer, 2014).</a:t>
            </a:r>
          </a:p>
          <a:p>
            <a:pPr marL="457200" indent="-457200">
              <a:buFont typeface="+mj-lt"/>
              <a:buAutoNum type="arabicPeriod"/>
            </a:pPr>
            <a:endParaRPr lang="en-IN" sz="2100" dirty="0">
              <a:latin typeface="Calibri" panose="020F0502020204030204" pitchFamily="34" charset="0"/>
              <a:ea typeface="Calibri" panose="020F0502020204030204" pitchFamily="34" charset="0"/>
              <a:cs typeface="Calibri" panose="020F0502020204030204" pitchFamily="34" charset="0"/>
            </a:endParaRPr>
          </a:p>
          <a:p>
            <a:endParaRPr lang="en-IN" sz="24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309841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1E602-7D5B-1DE2-3882-01F4C0CCF5A5}"/>
              </a:ext>
            </a:extLst>
          </p:cNvPr>
          <p:cNvSpPr>
            <a:spLocks noGrp="1"/>
          </p:cNvSpPr>
          <p:nvPr>
            <p:ph type="title"/>
          </p:nvPr>
        </p:nvSpPr>
        <p:spPr/>
        <p:txBody>
          <a:bodyPr/>
          <a:lstStyle/>
          <a:p>
            <a:r>
              <a:rPr lang="en-IN" dirty="0">
                <a:latin typeface="Georgia" panose="02040502050405020303" pitchFamily="18" charset="0"/>
              </a:rPr>
              <a:t>Contact Information</a:t>
            </a:r>
          </a:p>
        </p:txBody>
      </p:sp>
      <p:sp>
        <p:nvSpPr>
          <p:cNvPr id="3" name="Content Placeholder 2">
            <a:extLst>
              <a:ext uri="{FF2B5EF4-FFF2-40B4-BE49-F238E27FC236}">
                <a16:creationId xmlns:a16="http://schemas.microsoft.com/office/drawing/2014/main" id="{D19F2789-89D1-F0E4-D055-C3E0B40A4F83}"/>
              </a:ext>
            </a:extLst>
          </p:cNvPr>
          <p:cNvSpPr>
            <a:spLocks noGrp="1"/>
          </p:cNvSpPr>
          <p:nvPr>
            <p:ph idx="1"/>
          </p:nvPr>
        </p:nvSpPr>
        <p:spPr/>
        <p:txBody>
          <a:bodyPr/>
          <a:lstStyle/>
          <a:p>
            <a:r>
              <a:rPr lang="en-IN" dirty="0">
                <a:latin typeface="Georgia" panose="02040502050405020303" pitchFamily="18" charset="0"/>
              </a:rPr>
              <a:t>Course instructor: Purbasha Das</a:t>
            </a:r>
          </a:p>
          <a:p>
            <a:r>
              <a:rPr lang="en-IN" dirty="0">
                <a:latin typeface="Georgia" panose="02040502050405020303" pitchFamily="18" charset="0"/>
              </a:rPr>
              <a:t>Office Address: Room 4210, FB-4</a:t>
            </a:r>
          </a:p>
          <a:p>
            <a:r>
              <a:rPr lang="en-IN" dirty="0">
                <a:latin typeface="Georgia" panose="02040502050405020303" pitchFamily="18" charset="0"/>
              </a:rPr>
              <a:t>Email: p</a:t>
            </a:r>
            <a:r>
              <a:rPr lang="en-IN" dirty="0">
                <a:latin typeface="Georgia" panose="02040502050405020303" pitchFamily="18" charset="0"/>
                <a:hlinkClick r:id="rId2"/>
              </a:rPr>
              <a:t>urbasha_das@daiict.ac.in</a:t>
            </a:r>
            <a:r>
              <a:rPr lang="en-IN" dirty="0">
                <a:latin typeface="Georgia" panose="02040502050405020303" pitchFamily="18" charset="0"/>
              </a:rPr>
              <a:t> </a:t>
            </a:r>
          </a:p>
        </p:txBody>
      </p:sp>
    </p:spTree>
    <p:extLst>
      <p:ext uri="{BB962C8B-B14F-4D97-AF65-F5344CB8AC3E}">
        <p14:creationId xmlns:p14="http://schemas.microsoft.com/office/powerpoint/2010/main" val="2285103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5A49-6B88-0683-97D3-7BD99088545E}"/>
              </a:ext>
            </a:extLst>
          </p:cNvPr>
          <p:cNvSpPr>
            <a:spLocks noGrp="1"/>
          </p:cNvSpPr>
          <p:nvPr>
            <p:ph type="title"/>
          </p:nvPr>
        </p:nvSpPr>
        <p:spPr/>
        <p:txBody>
          <a:bodyPr>
            <a:normAutofit/>
          </a:bodyPr>
          <a:lstStyle/>
          <a:p>
            <a:r>
              <a:rPr lang="en-IN" sz="4000" b="1" dirty="0" smtClean="0">
                <a:latin typeface="Georgia" panose="02040502050405020303" pitchFamily="18" charset="0"/>
              </a:rPr>
              <a:t>Tasks </a:t>
            </a:r>
            <a:r>
              <a:rPr lang="en-IN" sz="4000" b="1" dirty="0">
                <a:latin typeface="Georgia" panose="02040502050405020303" pitchFamily="18" charset="0"/>
              </a:rPr>
              <a:t>for </a:t>
            </a:r>
            <a:r>
              <a:rPr lang="en-IN" sz="4000" b="1" dirty="0" smtClean="0">
                <a:latin typeface="Georgia" panose="02040502050405020303" pitchFamily="18" charset="0"/>
              </a:rPr>
              <a:t>this week : </a:t>
            </a:r>
            <a:r>
              <a:rPr lang="en-IN" sz="4000" b="1" u="sng" dirty="0" smtClean="0">
                <a:latin typeface="Georgia" panose="02040502050405020303" pitchFamily="18" charset="0"/>
              </a:rPr>
              <a:t>To be discussed in the next class</a:t>
            </a:r>
            <a:endParaRPr lang="en-IN" sz="4000" b="1" u="sng" dirty="0">
              <a:latin typeface="Georgia" panose="02040502050405020303" pitchFamily="18" charset="0"/>
            </a:endParaRPr>
          </a:p>
        </p:txBody>
      </p:sp>
      <p:sp>
        <p:nvSpPr>
          <p:cNvPr id="3" name="Content Placeholder 2">
            <a:extLst>
              <a:ext uri="{FF2B5EF4-FFF2-40B4-BE49-F238E27FC236}">
                <a16:creationId xmlns:a16="http://schemas.microsoft.com/office/drawing/2014/main" id="{F72537E8-2087-F7AD-12A4-04AD17EA582F}"/>
              </a:ext>
            </a:extLst>
          </p:cNvPr>
          <p:cNvSpPr>
            <a:spLocks noGrp="1"/>
          </p:cNvSpPr>
          <p:nvPr>
            <p:ph idx="1"/>
          </p:nvPr>
        </p:nvSpPr>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Research the kinds of </a:t>
            </a:r>
            <a:r>
              <a:rPr lang="en-US" sz="2800" dirty="0" smtClean="0">
                <a:latin typeface="Times New Roman" panose="02020603050405020304" pitchFamily="18" charset="0"/>
                <a:cs typeface="Times New Roman" panose="02020603050405020304" pitchFamily="18" charset="0"/>
              </a:rPr>
              <a:t>communication </a:t>
            </a:r>
            <a:r>
              <a:rPr lang="en-US" sz="2800" dirty="0">
                <a:latin typeface="Times New Roman" panose="02020603050405020304" pitchFamily="18" charset="0"/>
                <a:cs typeface="Times New Roman" panose="02020603050405020304" pitchFamily="18" charset="0"/>
              </a:rPr>
              <a:t>you will do in your career.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You might interview a member of your chosen profession.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What kinds of documents and presentations will you produce, and for what audiences and purposes?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6615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docProps/app.xml><?xml version="1.0" encoding="utf-8"?>
<Properties xmlns="http://schemas.openxmlformats.org/officeDocument/2006/extended-properties" xmlns:vt="http://schemas.openxmlformats.org/officeDocument/2006/docPropsVTypes">
  <TotalTime>724</TotalTime>
  <Words>1083</Words>
  <Application>Microsoft Office PowerPoint</Application>
  <PresentationFormat>Widescreen</PresentationFormat>
  <Paragraphs>135</Paragraphs>
  <Slides>30</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30</vt:i4>
      </vt:variant>
    </vt:vector>
  </HeadingPairs>
  <TitlesOfParts>
    <vt:vector size="41" baseType="lpstr">
      <vt:lpstr>Arial</vt:lpstr>
      <vt:lpstr>Baskerville Old Face</vt:lpstr>
      <vt:lpstr>Calibri</vt:lpstr>
      <vt:lpstr>Calibri Light</vt:lpstr>
      <vt:lpstr>Georgia</vt:lpstr>
      <vt:lpstr>Georgia Pro Cond Light</vt:lpstr>
      <vt:lpstr>Speak Pro</vt:lpstr>
      <vt:lpstr>Times New Roman</vt:lpstr>
      <vt:lpstr>Wingdings</vt:lpstr>
      <vt:lpstr>Office Theme</vt:lpstr>
      <vt:lpstr>RetrospectVTI</vt:lpstr>
      <vt:lpstr>Communication Skills and Technical Writing</vt:lpstr>
      <vt:lpstr>Aim of the course </vt:lpstr>
      <vt:lpstr>PowerPoint Presentation</vt:lpstr>
      <vt:lpstr>Describe the picture</vt:lpstr>
      <vt:lpstr>          I.  What is communication?</vt:lpstr>
      <vt:lpstr>II. Communication as a countable noun </vt:lpstr>
      <vt:lpstr>How many times have you communicated today, and how? </vt:lpstr>
      <vt:lpstr>Observe the image and answer the following questions </vt:lpstr>
      <vt:lpstr>PowerPoint Presentation</vt:lpstr>
      <vt:lpstr>PowerPoint Presentation</vt:lpstr>
      <vt:lpstr>Difference between business and technical communication </vt:lpstr>
      <vt:lpstr>What makes technical communication unique?</vt:lpstr>
      <vt:lpstr>Example 1 </vt:lpstr>
      <vt:lpstr>Example 2</vt:lpstr>
      <vt:lpstr>          </vt:lpstr>
      <vt:lpstr>The  Course Structure </vt:lpstr>
      <vt:lpstr>Module 1:Foundations of Professional Communication</vt:lpstr>
      <vt:lpstr>Module 2: Listening and Speaking for Engineers</vt:lpstr>
      <vt:lpstr>Module 3: Reading and Writing Technical Documents</vt:lpstr>
      <vt:lpstr>Module 4: Reading and Writing</vt:lpstr>
      <vt:lpstr>Module 5:Presenting Research</vt:lpstr>
      <vt:lpstr>Module 6:Career Communication</vt:lpstr>
      <vt:lpstr>Can you identify the use of the following softwares? </vt:lpstr>
      <vt:lpstr>PowerPoint Presentation</vt:lpstr>
      <vt:lpstr>Module 7: Workplace Communication</vt:lpstr>
      <vt:lpstr>Grading Policy</vt:lpstr>
      <vt:lpstr>Participation in class activities</vt:lpstr>
      <vt:lpstr>Essential readings</vt:lpstr>
      <vt:lpstr>Contact Information</vt:lpstr>
      <vt:lpstr>Tasks for this week : To be discussed in the next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Skills and Technical Writing</dc:title>
  <dc:creator>Purbasha Das</dc:creator>
  <cp:lastModifiedBy>acer</cp:lastModifiedBy>
  <cp:revision>25</cp:revision>
  <dcterms:created xsi:type="dcterms:W3CDTF">2024-07-17T07:58:19Z</dcterms:created>
  <dcterms:modified xsi:type="dcterms:W3CDTF">2026-07-23T10:57:35Z</dcterms:modified>
</cp:coreProperties>
</file>