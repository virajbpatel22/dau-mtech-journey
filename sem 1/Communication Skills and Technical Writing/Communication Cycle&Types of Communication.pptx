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90" r:id="rId8"/>
    <p:sldId id="262" r:id="rId9"/>
    <p:sldId id="29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8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elestia-R1---OverlayTitle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9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0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>
            <a:spLocks noGrp="1"/>
          </p:cNvSpPr>
          <p:nvPr>
            <p:ph type="pic" idx="2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2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2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2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1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2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hannon%E2%80%93Weaver_mode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night sky with mountains far away on the horizon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0" y="-135162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ctrTitle"/>
          </p:nvPr>
        </p:nvSpPr>
        <p:spPr>
          <a:xfrm>
            <a:off x="887767" y="1207364"/>
            <a:ext cx="10431262" cy="262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chemeClr val="accent2">
                    <a:lumMod val="20000"/>
                    <a:lumOff val="80000"/>
                  </a:schemeClr>
                </a:solidFill>
                <a:sym typeface="Calibri"/>
              </a:rPr>
              <a:t>BASICS OF TECHNICAL COMMUNICATION</a:t>
            </a:r>
            <a:endParaRPr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THE OBJECTIVE OF TECHNICAL COMMUNICATION 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 dirty="0"/>
              <a:t>To disseminate knowledge in oral or written form.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 dirty="0"/>
              <a:t>To provide </a:t>
            </a:r>
            <a:r>
              <a:rPr lang="en-US" sz="3200" u="sng" dirty="0"/>
              <a:t>organized information </a:t>
            </a:r>
            <a:r>
              <a:rPr lang="en-US" sz="3200" dirty="0"/>
              <a:t>that aids in quick decision-making.</a:t>
            </a: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 dirty="0"/>
              <a:t>To invite corporate joint ventures.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THE PROCESS OF COMMUNICATION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508001" y="1696721"/>
            <a:ext cx="10309226" cy="409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Communication has to have a </a:t>
            </a:r>
            <a:r>
              <a:rPr lang="en-US" sz="2800" i="1" u="sng" dirty="0"/>
              <a:t>sender</a:t>
            </a:r>
            <a:r>
              <a:rPr lang="en-US" sz="2800" dirty="0"/>
              <a:t> and a </a:t>
            </a:r>
            <a:r>
              <a:rPr lang="en-US" sz="2800" i="1" u="sng" dirty="0"/>
              <a:t>receiver</a:t>
            </a:r>
            <a:r>
              <a:rPr lang="en-US" sz="2800" dirty="0"/>
              <a:t>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At one time, one of them is </a:t>
            </a:r>
            <a:r>
              <a:rPr lang="en-US" sz="2800" i="1" u="sng" dirty="0"/>
              <a:t>active</a:t>
            </a:r>
            <a:r>
              <a:rPr lang="en-US" sz="2800" dirty="0"/>
              <a:t> and the other is </a:t>
            </a:r>
            <a:r>
              <a:rPr lang="en-US" sz="2800" i="1" u="sng" dirty="0"/>
              <a:t>passive</a:t>
            </a:r>
            <a:r>
              <a:rPr lang="en-US" sz="2800" dirty="0"/>
              <a:t>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There has to be some degree of cooperation between them.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They should have a mutually accepted code of symbols to make a common language.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685801" y="429370"/>
            <a:ext cx="10131425" cy="1636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COMMUNICATION ENVIRONMENT 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675861" y="3272521"/>
            <a:ext cx="1359673" cy="1068891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2830665" y="3272520"/>
            <a:ext cx="1343770" cy="1068892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sent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4969565" y="3272521"/>
            <a:ext cx="1439186" cy="1068891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Received message 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7283396" y="3296374"/>
            <a:ext cx="1590260" cy="989379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Receiver 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668786" y="3272521"/>
            <a:ext cx="1431235" cy="1013232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Response 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2"/>
          <p:cNvCxnSpPr/>
          <p:nvPr/>
        </p:nvCxnSpPr>
        <p:spPr>
          <a:xfrm rot="10800000" flipH="1">
            <a:off x="2035534" y="3737113"/>
            <a:ext cx="795131" cy="7951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22"/>
          <p:cNvCxnSpPr/>
          <p:nvPr/>
        </p:nvCxnSpPr>
        <p:spPr>
          <a:xfrm rot="10800000" flipH="1">
            <a:off x="6408751" y="3737113"/>
            <a:ext cx="946205" cy="7951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22"/>
          <p:cNvCxnSpPr>
            <a:stCxn id="171" idx="3"/>
            <a:endCxn id="172" idx="1"/>
          </p:cNvCxnSpPr>
          <p:nvPr/>
        </p:nvCxnSpPr>
        <p:spPr>
          <a:xfrm rot="10800000" flipH="1">
            <a:off x="8873656" y="3779064"/>
            <a:ext cx="795000" cy="120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22"/>
          <p:cNvCxnSpPr/>
          <p:nvPr/>
        </p:nvCxnSpPr>
        <p:spPr>
          <a:xfrm>
            <a:off x="2449002" y="2846566"/>
            <a:ext cx="0" cy="890547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22"/>
          <p:cNvCxnSpPr/>
          <p:nvPr/>
        </p:nvCxnSpPr>
        <p:spPr>
          <a:xfrm>
            <a:off x="10511624" y="4285753"/>
            <a:ext cx="7952" cy="930303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22"/>
          <p:cNvCxnSpPr/>
          <p:nvPr/>
        </p:nvCxnSpPr>
        <p:spPr>
          <a:xfrm rot="10800000">
            <a:off x="1319917" y="5216056"/>
            <a:ext cx="9191707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22"/>
          <p:cNvSpPr txBox="1"/>
          <p:nvPr/>
        </p:nvSpPr>
        <p:spPr>
          <a:xfrm>
            <a:off x="1669773" y="2530458"/>
            <a:ext cx="17254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Channel/Media</a:t>
            </a:r>
            <a:endParaRPr sz="1800" b="1" i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22"/>
          <p:cNvCxnSpPr>
            <a:endCxn id="168" idx="2"/>
          </p:cNvCxnSpPr>
          <p:nvPr/>
        </p:nvCxnSpPr>
        <p:spPr>
          <a:xfrm rot="10800000" flipH="1">
            <a:off x="1319998" y="4341412"/>
            <a:ext cx="35700" cy="8667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1" name="Google Shape;181;p22"/>
          <p:cNvSpPr txBox="1"/>
          <p:nvPr/>
        </p:nvSpPr>
        <p:spPr>
          <a:xfrm>
            <a:off x="4174434" y="3919993"/>
            <a:ext cx="7156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Noise-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External or internal </a:t>
            </a:r>
            <a:endParaRPr sz="1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22"/>
          <p:cNvCxnSpPr>
            <a:stCxn id="169" idx="3"/>
          </p:cNvCxnSpPr>
          <p:nvPr/>
        </p:nvCxnSpPr>
        <p:spPr>
          <a:xfrm rot="10800000" flipH="1">
            <a:off x="4174435" y="3657566"/>
            <a:ext cx="795000" cy="14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" name="Google Shape;183;p22"/>
          <p:cNvSpPr txBox="1"/>
          <p:nvPr/>
        </p:nvSpPr>
        <p:spPr>
          <a:xfrm>
            <a:off x="2115047" y="3919993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encoded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112689" y="4882101"/>
            <a:ext cx="1781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sz="1800" b="1" i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8873655" y="3260998"/>
            <a:ext cx="652007" cy="41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Decoded 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1669773" y="5641111"/>
            <a:ext cx="9279173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Figure 1. The communication cycle (Raman, </a:t>
            </a:r>
            <a:r>
              <a:rPr lang="en-US" sz="16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Meenakshi</a:t>
            </a: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6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Sangeeta</a:t>
            </a: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Sharma. Technical Communication: Principles and Practice. Second Edition. New Delhi: OUP, 2011)</a:t>
            </a:r>
          </a:p>
          <a:p>
            <a:pPr lvl="0"/>
            <a:r>
              <a:rPr lang="en-IN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https://en.wikipedia.org/wiki/Shannon%E2%80%93Weaver_model</a:t>
            </a:r>
            <a:endParaRPr lang="en-IN" sz="16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THE VARIOUS STEPS OF THE COMMUNICATION CYCLE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>
            <a:spLocks noGrp="1"/>
          </p:cNvSpPr>
          <p:nvPr>
            <p:ph type="body" idx="1"/>
          </p:nvPr>
        </p:nvSpPr>
        <p:spPr>
          <a:xfrm>
            <a:off x="1300480" y="2255520"/>
            <a:ext cx="9516746" cy="353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first step is </a:t>
            </a:r>
            <a:r>
              <a:rPr lang="en-US" sz="2800" b="1" u="sng" dirty="0"/>
              <a:t>FORMULATION</a:t>
            </a:r>
            <a:r>
              <a:rPr lang="en-US" sz="2800" b="1" dirty="0"/>
              <a:t>.</a:t>
            </a:r>
            <a:endParaRPr b="1"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Formulation means that the </a:t>
            </a:r>
            <a:r>
              <a:rPr lang="en-US" sz="2800" i="1" dirty="0"/>
              <a:t>sender forms the content of the message to be sent</a:t>
            </a:r>
            <a:r>
              <a:rPr lang="en-US" sz="2800" dirty="0"/>
              <a:t>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Formulation depends on the purpose of the sender, and his/her level of experience, knowledge, and intelligence.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content once formed is called the message.</a:t>
            </a:r>
            <a:endParaRPr dirty="0"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>
            <a:spLocks noGrp="1"/>
          </p:cNvSpPr>
          <p:nvPr>
            <p:ph type="body" idx="1"/>
          </p:nvPr>
        </p:nvSpPr>
        <p:spPr>
          <a:xfrm>
            <a:off x="1733384" y="1304013"/>
            <a:ext cx="8444286" cy="4487187"/>
          </a:xfrm>
          <a:prstGeom prst="rect">
            <a:avLst/>
          </a:prstGeom>
          <a:gradFill>
            <a:gsLst>
              <a:gs pos="0">
                <a:srgbClr val="F4BEC9"/>
              </a:gs>
              <a:gs pos="100000">
                <a:srgbClr val="EC8299">
                  <a:alpha val="73725"/>
                </a:srgbClr>
              </a:gs>
            </a:gsLst>
            <a:lin ang="5400000" scaled="0"/>
          </a:grad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message is encoded using proper language. (words, signs, objects)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message is delivered through 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channels of communication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(face to face, on paper, digital or electronic media)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receiver receives the message and acts on it.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0A7A-A266-5E4D-8BF8-F6BA51B9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to decide the channel of communication? </a:t>
            </a:r>
            <a:endParaRPr lang="en-IN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6B632-1671-93D4-077C-26B2FD99F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743" y="1524001"/>
            <a:ext cx="9935483" cy="4267200"/>
          </a:xfrm>
        </p:spPr>
        <p:txBody>
          <a:bodyPr>
            <a:normAutofit/>
          </a:bodyPr>
          <a:lstStyle/>
          <a:p>
            <a:r>
              <a:rPr lang="en-US" sz="2800" dirty="0"/>
              <a:t>Is the message </a:t>
            </a:r>
            <a:r>
              <a:rPr lang="en-US" sz="2800" b="1" dirty="0">
                <a:solidFill>
                  <a:srgbClr val="FFC000"/>
                </a:solidFill>
              </a:rPr>
              <a:t>urgent</a:t>
            </a:r>
            <a:r>
              <a:rPr lang="en-US" sz="2800" dirty="0"/>
              <a:t>? </a:t>
            </a:r>
          </a:p>
          <a:p>
            <a:r>
              <a:rPr lang="en-US" sz="2800" dirty="0"/>
              <a:t>Is immediate </a:t>
            </a:r>
            <a:r>
              <a:rPr lang="en-US" sz="2800" b="1" dirty="0">
                <a:solidFill>
                  <a:srgbClr val="FFC000"/>
                </a:solidFill>
              </a:rPr>
              <a:t>feedback </a:t>
            </a:r>
            <a:r>
              <a:rPr lang="en-US" sz="2800" dirty="0"/>
              <a:t>needed? </a:t>
            </a:r>
          </a:p>
          <a:p>
            <a:r>
              <a:rPr lang="en-US" sz="2800" dirty="0"/>
              <a:t>Is documentation or a </a:t>
            </a:r>
            <a:r>
              <a:rPr lang="en-US" sz="2800" b="1" dirty="0">
                <a:solidFill>
                  <a:srgbClr val="FFC000"/>
                </a:solidFill>
              </a:rPr>
              <a:t>permanent record </a:t>
            </a:r>
            <a:r>
              <a:rPr lang="en-US" sz="2800" dirty="0"/>
              <a:t>required? </a:t>
            </a:r>
          </a:p>
          <a:p>
            <a:r>
              <a:rPr lang="en-US" sz="2800" dirty="0"/>
              <a:t>Is the content complicated, controversial, or </a:t>
            </a:r>
            <a:r>
              <a:rPr lang="en-US" sz="2800" b="1" dirty="0">
                <a:solidFill>
                  <a:srgbClr val="FFC000"/>
                </a:solidFill>
              </a:rPr>
              <a:t>private</a:t>
            </a:r>
            <a:r>
              <a:rPr lang="en-US" sz="2800" dirty="0"/>
              <a:t>? </a:t>
            </a:r>
          </a:p>
          <a:p>
            <a:r>
              <a:rPr lang="en-US" sz="2800" dirty="0"/>
              <a:t>Is the message going to someone </a:t>
            </a:r>
            <a:r>
              <a:rPr lang="en-US" sz="2800" b="1" dirty="0">
                <a:solidFill>
                  <a:srgbClr val="FFC000"/>
                </a:solidFill>
              </a:rPr>
              <a:t>inside or outside the organization</a:t>
            </a:r>
            <a:r>
              <a:rPr lang="en-US" sz="2800" dirty="0"/>
              <a:t>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3583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IMPORTANCE OF FEEDBACK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860729" y="20658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transmission of the receiver’s response to the sender is called feedback.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b="1" i="1" dirty="0"/>
              <a:t>Feedback measures the effectiveness of the communication</a:t>
            </a:r>
            <a:r>
              <a:rPr lang="en-US" sz="2800" dirty="0"/>
              <a:t>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communication cycle is complete only when there is a response from the receiver. Otherwise, the message needs to be resent.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communication cycle is effective when there is a desired response from the receiver.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B893-46DA-FCE3-45EF-2E3CB250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of the following scenarios can be considered feedback?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0D795-4D12-1ECA-FD75-12BA90D11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Scenario 1</a:t>
            </a:r>
            <a:r>
              <a:rPr lang="en-US" sz="2400" dirty="0"/>
              <a:t>: A data analyst gives a presentation with too many charts.</a:t>
            </a:r>
            <a:br>
              <a:rPr lang="en-US" sz="2400" dirty="0"/>
            </a:br>
            <a:r>
              <a:rPr lang="en-US" sz="2400" b="1" dirty="0"/>
              <a:t>Manager</a:t>
            </a:r>
            <a:r>
              <a:rPr lang="en-US" sz="2400" dirty="0"/>
              <a:t>: “Great insights! Let’s simplify a few slides so the non-data folks don’t go cross-eyed.”</a:t>
            </a:r>
          </a:p>
          <a:p>
            <a:r>
              <a:rPr lang="en-US" sz="2400" b="1" dirty="0"/>
              <a:t>Feedback</a:t>
            </a:r>
            <a:r>
              <a:rPr lang="en-US" sz="2400" dirty="0"/>
              <a:t>: positive tone+ practical suggestions. </a:t>
            </a:r>
          </a:p>
          <a:p>
            <a:endParaRPr lang="en-US" sz="2400" dirty="0"/>
          </a:p>
          <a:p>
            <a:r>
              <a:rPr lang="en-US" sz="2400" b="1" dirty="0"/>
              <a:t>Scenario 2</a:t>
            </a:r>
            <a:r>
              <a:rPr lang="en-US" sz="2400" dirty="0"/>
              <a:t>: You suggest a new automation tool in a email to your manager.</a:t>
            </a:r>
            <a:br>
              <a:rPr lang="en-US" sz="2400" dirty="0"/>
            </a:br>
            <a:r>
              <a:rPr lang="en-US" sz="2400" b="1" dirty="0"/>
              <a:t>Response</a:t>
            </a:r>
            <a:r>
              <a:rPr lang="en-US" sz="2400" dirty="0"/>
              <a:t>: No response to email. </a:t>
            </a:r>
            <a:br>
              <a:rPr lang="en-US" sz="2400" dirty="0"/>
            </a:br>
            <a:r>
              <a:rPr lang="en-US" sz="2400" b="1" dirty="0"/>
              <a:t>Feedback</a:t>
            </a:r>
            <a:r>
              <a:rPr lang="en-US" sz="2400" dirty="0"/>
              <a:t>: Ambiguity or passive dismissal.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08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THE COMMUNICATION PROCESS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333955" y="2854518"/>
            <a:ext cx="1781092" cy="1900362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 HAS AN IDEA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2782957" y="2926080"/>
            <a:ext cx="1709531" cy="1757238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 CONVERTS THE IDEA INTO WORDS OR GESTURES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160397" y="2898250"/>
            <a:ext cx="1566405" cy="1785068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TRAVELS OVER CHANNEL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219784" y="2926080"/>
            <a:ext cx="1796995" cy="1757238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RECEIVER DECODES THE MESSAGE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9509761" y="2934031"/>
            <a:ext cx="1606162" cy="1741335"/>
          </a:xfrm>
          <a:prstGeom prst="rect">
            <a:avLst/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RECEIVER RESPONDS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26"/>
          <p:cNvCxnSpPr>
            <a:stCxn id="209" idx="3"/>
            <a:endCxn id="210" idx="1"/>
          </p:cNvCxnSpPr>
          <p:nvPr/>
        </p:nvCxnSpPr>
        <p:spPr>
          <a:xfrm>
            <a:off x="2115047" y="3804699"/>
            <a:ext cx="667800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5" name="Google Shape;215;p26"/>
          <p:cNvCxnSpPr>
            <a:stCxn id="210" idx="3"/>
            <a:endCxn id="211" idx="1"/>
          </p:cNvCxnSpPr>
          <p:nvPr/>
        </p:nvCxnSpPr>
        <p:spPr>
          <a:xfrm rot="10800000" flipH="1">
            <a:off x="4492488" y="3790899"/>
            <a:ext cx="667800" cy="138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6" name="Google Shape;216;p26"/>
          <p:cNvCxnSpPr>
            <a:stCxn id="211" idx="3"/>
            <a:endCxn id="212" idx="1"/>
          </p:cNvCxnSpPr>
          <p:nvPr/>
        </p:nvCxnSpPr>
        <p:spPr>
          <a:xfrm>
            <a:off x="6726802" y="3790784"/>
            <a:ext cx="492900" cy="138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7" name="Google Shape;217;p26"/>
          <p:cNvCxnSpPr>
            <a:stCxn id="212" idx="3"/>
            <a:endCxn id="213" idx="1"/>
          </p:cNvCxnSpPr>
          <p:nvPr/>
        </p:nvCxnSpPr>
        <p:spPr>
          <a:xfrm>
            <a:off x="9016779" y="3804699"/>
            <a:ext cx="492900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8" name="Google Shape;218;p26"/>
          <p:cNvSpPr txBox="1"/>
          <p:nvPr/>
        </p:nvSpPr>
        <p:spPr>
          <a:xfrm>
            <a:off x="1693628" y="2313830"/>
            <a:ext cx="17015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 S(x)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8150087" y="2234317"/>
            <a:ext cx="17413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RECEIVER R(x)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588397" y="4929809"/>
            <a:ext cx="14073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IDEATION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2965837" y="4929809"/>
            <a:ext cx="1685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ENCODING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5041126" y="4929809"/>
            <a:ext cx="18778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TRANSMISSION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7466275" y="4929809"/>
            <a:ext cx="14073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4.DECODING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9716493" y="4929809"/>
            <a:ext cx="1407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 FEEDBACK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2272683" y="5633499"/>
            <a:ext cx="690312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2. The communication process (M. Ashraf Rizvi, </a:t>
            </a:r>
            <a:r>
              <a:rPr lang="en-US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Effective Technical Communication.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Delhi: Tata McGraw Hill, 2012) </a:t>
            </a:r>
          </a:p>
          <a:p>
            <a:pPr lvl="0"/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741460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1. IDEATION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According to  M. Ashraf Rizvi, communication is a 5-step process.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Ideation refers to formation of ideas or selecting the message to be communicated.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In a formal communication situation, ideation may consist of finding and selecting a subject or general topic, deciding the type, scope and sources of information. </a:t>
            </a:r>
            <a:endParaRPr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2. ENCODING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Encoding is the process of changing the information into some form of logical and coded message. </a:t>
            </a:r>
            <a:endParaRPr/>
          </a:p>
          <a:p>
            <a:pPr marL="285750" lvl="0" indent="-13335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Selecting the right language or gestures is important for effective encoding.</a:t>
            </a:r>
            <a:endParaRPr/>
          </a:p>
          <a:p>
            <a:pPr marL="285750" lvl="0" indent="-13335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Example: A person who does not know Gujarati will be unable to understand a message written in Gujarati. 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3. TRANSMISSION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5714999" cy="410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400" dirty="0"/>
              <a:t>Refers to the flow of messages over a chosen channel.</a:t>
            </a:r>
            <a:endParaRPr sz="24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Transmission keeps the communication channel free from interference or noise so that the message reaches the receiver without any disturbance. </a:t>
            </a:r>
            <a:endParaRPr sz="24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400" dirty="0"/>
              <a:t>It also involves choosing the proper time, proper place, and a proper way to communicate. </a:t>
            </a:r>
            <a:endParaRPr sz="2400"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None/>
            </a:pPr>
            <a:endParaRPr dirty="0"/>
          </a:p>
        </p:txBody>
      </p:sp>
      <p:sp>
        <p:nvSpPr>
          <p:cNvPr id="244" name="Google Shape;244;p29"/>
          <p:cNvSpPr/>
          <p:nvPr/>
        </p:nvSpPr>
        <p:spPr>
          <a:xfrm>
            <a:off x="6949440" y="2337682"/>
            <a:ext cx="4064000" cy="338239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you think of an example from real life to explain the third point?</a:t>
            </a: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4. DECODING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 txBox="1">
            <a:spLocks noGrp="1"/>
          </p:cNvSpPr>
          <p:nvPr>
            <p:ph type="body" idx="1"/>
          </p:nvPr>
        </p:nvSpPr>
        <p:spPr>
          <a:xfrm>
            <a:off x="1524000" y="2142067"/>
            <a:ext cx="8829039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>
                <a:solidFill>
                  <a:srgbClr val="FFFF00"/>
                </a:solidFill>
              </a:rPr>
              <a:t>Decoding is the process of converting a message into thoughts by translating the received stimuli into an interpreted meaning to understand the message communicated.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It is important to remember here that the message can be transferred but the </a:t>
            </a:r>
            <a:r>
              <a:rPr lang="en-US" sz="2400" u="sng" dirty="0"/>
              <a:t>meaning cannot be transferred</a:t>
            </a:r>
            <a:r>
              <a:rPr lang="en-US" sz="2400" dirty="0"/>
              <a:t>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The receiver has to assign a meaning to the message to understand it. 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5. RESPONSE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 txBox="1">
            <a:spLocks noGrp="1"/>
          </p:cNvSpPr>
          <p:nvPr>
            <p:ph type="body" idx="1"/>
          </p:nvPr>
        </p:nvSpPr>
        <p:spPr>
          <a:xfrm>
            <a:off x="685800" y="2142067"/>
            <a:ext cx="9372599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It is the action or reaction of the receiver to the message.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It helps the sender know that the message was received and understood.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Response is essential to understand whether the communication was effective or not. </a:t>
            </a:r>
            <a:endParaRPr/>
          </a:p>
          <a:p>
            <a:pPr marL="285750" lvl="0" indent="-107950" algn="l" rtl="0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TRUE OR FALSE 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2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3200"/>
              <a:t>The process of communication begins when the sender converts the idea into words or gestures.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3200"/>
              <a:t>The scope of ideation is not determined by the situation.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3200"/>
              <a:t>Decoding relates to the sender of a message.</a:t>
            </a:r>
            <a:endParaRPr/>
          </a:p>
          <a:p>
            <a:pPr marL="285750" lvl="0" indent="-107950" algn="l" rtl="0"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LEVELS OF COMMUNICATION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 err="1"/>
              <a:t>Extrapersonal</a:t>
            </a:r>
            <a:endParaRPr sz="32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Interpersonal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Intrapersonal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Organizational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Mass</a:t>
            </a:r>
            <a:endParaRPr sz="3200" dirty="0"/>
          </a:p>
        </p:txBody>
      </p:sp>
      <p:pic>
        <p:nvPicPr>
          <p:cNvPr id="269" name="Google Shape;26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8399" y="2271395"/>
            <a:ext cx="3041967" cy="3041967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70" name="Google Shape;27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3566" y="1151837"/>
            <a:ext cx="3041967" cy="290004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271" name="Google Shape;271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3602" y="4594119"/>
            <a:ext cx="3701893" cy="1819487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685800" y="6858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INTERPERSONAL COMMUNICATION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4"/>
          <p:cNvSpPr txBox="1">
            <a:spLocks noGrp="1"/>
          </p:cNvSpPr>
          <p:nvPr>
            <p:ph type="body" idx="1"/>
          </p:nvPr>
        </p:nvSpPr>
        <p:spPr>
          <a:xfrm>
            <a:off x="596349" y="1749287"/>
            <a:ext cx="6790414" cy="404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Refers to sharing of information between people.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Many participants are involved.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It is advantageous method of communication because feedback is immediate. </a:t>
            </a:r>
            <a:endParaRPr/>
          </a:p>
        </p:txBody>
      </p:sp>
      <p:sp>
        <p:nvSpPr>
          <p:cNvPr id="278" name="Google Shape;278;p34"/>
          <p:cNvSpPr/>
          <p:nvPr/>
        </p:nvSpPr>
        <p:spPr>
          <a:xfrm>
            <a:off x="7838983" y="2760955"/>
            <a:ext cx="4074850" cy="341790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are the factors that impact  interpersonal communication positively and negatively?</a:t>
            </a: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120" y="498099"/>
            <a:ext cx="3430462" cy="19635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INTRAPERSONAL COMMUNICATION </a:t>
            </a:r>
            <a:endParaRPr lang="en-IN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Intra means ‘within’ or ‘inside’. </a:t>
            </a:r>
            <a:r>
              <a:rPr lang="en-US" sz="2400" b="1" i="1" dirty="0"/>
              <a:t>Communication with yourself.</a:t>
            </a:r>
          </a:p>
          <a:p>
            <a:endParaRPr lang="en-US" sz="2400" b="1" i="1" dirty="0"/>
          </a:p>
          <a:p>
            <a:r>
              <a:rPr lang="en-US" sz="2400" dirty="0"/>
              <a:t>Feedback occurs in the sense that you make decisions based on some ideas and replace/discard the other ideas.</a:t>
            </a:r>
          </a:p>
          <a:p>
            <a:endParaRPr lang="en-US" sz="2400" dirty="0"/>
          </a:p>
          <a:p>
            <a:r>
              <a:rPr lang="en-US" sz="2400" b="1" dirty="0"/>
              <a:t>Intrapersonal communication is the foundation on which interpersonal communication is based.</a:t>
            </a:r>
          </a:p>
          <a:p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1193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ORGANIZATIONAL COMMUNICATION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5"/>
          <p:cNvSpPr txBox="1">
            <a:spLocks noGrp="1"/>
          </p:cNvSpPr>
          <p:nvPr>
            <p:ph type="body" idx="1"/>
          </p:nvPr>
        </p:nvSpPr>
        <p:spPr>
          <a:xfrm>
            <a:off x="685802" y="1727201"/>
            <a:ext cx="4951674" cy="4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Internal-operational</a:t>
            </a:r>
            <a:endParaRPr dirty="0"/>
          </a:p>
          <a:p>
            <a:pPr marL="514350" lvl="0" indent="-514350" algn="l" rtl="0"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External-operational</a:t>
            </a:r>
            <a:endParaRPr dirty="0"/>
          </a:p>
          <a:p>
            <a:pPr marL="514350" lvl="0" indent="-514350" algn="l" rtl="0">
              <a:spcBef>
                <a:spcPts val="100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US" sz="3200" dirty="0"/>
              <a:t>Personal</a:t>
            </a:r>
            <a:endParaRPr sz="3200" dirty="0"/>
          </a:p>
        </p:txBody>
      </p:sp>
      <p:sp>
        <p:nvSpPr>
          <p:cNvPr id="285" name="Google Shape;285;p35"/>
          <p:cNvSpPr/>
          <p:nvPr/>
        </p:nvSpPr>
        <p:spPr>
          <a:xfrm>
            <a:off x="6258560" y="2448560"/>
            <a:ext cx="4558666" cy="3048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rnd" cmpd="sng">
            <a:solidFill>
              <a:srgbClr val="611D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strategies are essential to ensure best inter-operational and external-operation communication?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FLOW OF COMMUNICATION </a:t>
            </a:r>
            <a:r>
              <a:rPr lang="en-US" b="1" dirty="0"/>
              <a:t>IN A WORKPLACE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6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4038599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800" dirty="0"/>
              <a:t>Vertical Communication</a:t>
            </a:r>
            <a:endParaRPr dirty="0"/>
          </a:p>
          <a:p>
            <a:pPr marL="514350" lvl="0" indent="-514350" algn="l" rtl="0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800" dirty="0"/>
              <a:t>Downward Communication</a:t>
            </a:r>
            <a:endParaRPr dirty="0"/>
          </a:p>
          <a:p>
            <a:pPr marL="514350" lvl="0" indent="-514350" algn="l" rtl="0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800" dirty="0"/>
              <a:t>Upward Communication</a:t>
            </a:r>
            <a:endParaRPr dirty="0"/>
          </a:p>
          <a:p>
            <a:pPr marL="514350" lvl="0" indent="-514350" algn="l" rtl="0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800" dirty="0"/>
              <a:t>Horizontal Communication</a:t>
            </a:r>
            <a:endParaRPr dirty="0"/>
          </a:p>
          <a:p>
            <a:pPr marL="514350" lvl="0" indent="-514350" algn="l" rtl="0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800" dirty="0"/>
              <a:t>Diagonal Communication</a:t>
            </a:r>
            <a:endParaRPr sz="2800" dirty="0"/>
          </a:p>
        </p:txBody>
      </p:sp>
      <p:pic>
        <p:nvPicPr>
          <p:cNvPr id="292" name="Google Shape;29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6240" y="2142067"/>
            <a:ext cx="5787766" cy="306231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93" name="Google Shape;293;p36"/>
          <p:cNvSpPr txBox="1"/>
          <p:nvPr/>
        </p:nvSpPr>
        <p:spPr>
          <a:xfrm>
            <a:off x="5476241" y="5567680"/>
            <a:ext cx="62382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Figure 3: Flow of communication in an organization. (Raman, Meenakshi and Sangeeta Sharma. Technical Communication: Principles and Practice. Second Edition. New Delhi: OUP, 2011)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1. VERTICAL COMMUNICATION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7"/>
          <p:cNvSpPr txBox="1">
            <a:spLocks noGrp="1"/>
          </p:cNvSpPr>
          <p:nvPr>
            <p:ph type="body" idx="1"/>
          </p:nvPr>
        </p:nvSpPr>
        <p:spPr>
          <a:xfrm>
            <a:off x="548641" y="2194561"/>
            <a:ext cx="7132320" cy="3771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Flows up and down the organization’s chain of command.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It can be both downward and upward. </a:t>
            </a:r>
            <a:endParaRPr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00" name="Google Shape;300;p37"/>
          <p:cNvSpPr/>
          <p:nvPr/>
        </p:nvSpPr>
        <p:spPr>
          <a:xfrm>
            <a:off x="7934960" y="2065867"/>
            <a:ext cx="3302000" cy="321733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rnd" cmpd="sng">
            <a:solidFill>
              <a:srgbClr val="611D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is vertical communication useful?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2. DOWNWARD COMMUNICATION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8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6009639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Flows from the manager down the chain of command.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main function is to provide direction and control.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It increases staff awareness and facilitates the implementation of new policies and decisions.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07" name="Google Shape;307;p38"/>
          <p:cNvSpPr/>
          <p:nvPr/>
        </p:nvSpPr>
        <p:spPr>
          <a:xfrm>
            <a:off x="6941488" y="1812897"/>
            <a:ext cx="3935895" cy="2981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rnd" cmpd="sng">
            <a:solidFill>
              <a:srgbClr val="A932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what circumstances does downward communication take place?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1030287" y="6858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3. UPWARD COMMUNICATION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436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Subordinates send reports to inform their superiors.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The extent of upward communication depends on the organizational culture.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 dirty="0"/>
              <a:t>In a culture without hierarchies, it is easier to create trust and ensure participative decision-making</a:t>
            </a:r>
            <a:r>
              <a:rPr lang="en-US" sz="2800" dirty="0"/>
              <a:t>. </a:t>
            </a:r>
            <a:endParaRPr dirty="0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In a highly authoritative environment, downward flow dominates and upward flow is less or negligible. </a:t>
            </a:r>
            <a:endParaRPr dirty="0"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4. HORIZONTAL COMMUNICATION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1162880" y="2142067"/>
            <a:ext cx="9149519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Takes place among peers or employers at the same seniority level.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Helps bridge the gap between various departments </a:t>
            </a:r>
            <a:r>
              <a:rPr lang="en-US" sz="2800"/>
              <a:t>and also helps in developing teamwork.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Sometimes such communication can create conflict when formal vertical channels are bypassed. </a:t>
            </a:r>
            <a:endParaRPr/>
          </a:p>
          <a:p>
            <a:pPr marL="285750" lvl="0" indent="-13335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5. DIAGONAL COMMUNICATION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1"/>
          <p:cNvSpPr txBox="1">
            <a:spLocks noGrp="1"/>
          </p:cNvSpPr>
          <p:nvPr>
            <p:ph type="body" idx="1"/>
          </p:nvPr>
        </p:nvSpPr>
        <p:spPr>
          <a:xfrm>
            <a:off x="685801" y="1544321"/>
            <a:ext cx="10131425" cy="424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Cross-wise communication that flows in all directions and cuts across various functions and levels in an organization.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It is a quick and efficient form of communication. </a:t>
            </a: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use of emails has encouraged such cross-wise communication. </a:t>
            </a:r>
            <a:endParaRPr/>
          </a:p>
          <a:p>
            <a:pPr marL="285750" lvl="0" indent="-17145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1154</Words>
  <Application>Microsoft Office PowerPoint</Application>
  <PresentationFormat>Widescreen</PresentationFormat>
  <Paragraphs>151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Noto Sans Symbols</vt:lpstr>
      <vt:lpstr>Celestial</vt:lpstr>
      <vt:lpstr>BASICS OF TECHNICAL COMMUNICATION</vt:lpstr>
      <vt:lpstr>THE OBJECTIVE OF TECHNICAL COMMUNICATION </vt:lpstr>
      <vt:lpstr>THE PROCESS OF COMMUNICATION</vt:lpstr>
      <vt:lpstr>COMMUNICATION ENVIRONMENT </vt:lpstr>
      <vt:lpstr>THE VARIOUS STEPS OF THE COMMUNICATION CYCLE</vt:lpstr>
      <vt:lpstr>PowerPoint Presentation</vt:lpstr>
      <vt:lpstr>How to decide the channel of communication? </vt:lpstr>
      <vt:lpstr>IMPORTANCE OF FEEDBACK</vt:lpstr>
      <vt:lpstr>Which of the following scenarios can be considered feedback?</vt:lpstr>
      <vt:lpstr>THE COMMUNICATION PROCESS</vt:lpstr>
      <vt:lpstr>1. IDEATION</vt:lpstr>
      <vt:lpstr>2. ENCODING</vt:lpstr>
      <vt:lpstr>3. TRANSMISSION</vt:lpstr>
      <vt:lpstr>4. DECODING </vt:lpstr>
      <vt:lpstr>5. RESPONSE </vt:lpstr>
      <vt:lpstr>TRUE OR FALSE </vt:lpstr>
      <vt:lpstr>LEVELS OF COMMUNICATION</vt:lpstr>
      <vt:lpstr>INTERPERSONAL COMMUNICATION </vt:lpstr>
      <vt:lpstr>INTRAPERSONAL COMMUNICATION </vt:lpstr>
      <vt:lpstr>ORGANIZATIONAL COMMUNICATION</vt:lpstr>
      <vt:lpstr>FLOW OF COMMUNICATION IN A WORKPLACE</vt:lpstr>
      <vt:lpstr>1. VERTICAL COMMUNICATION</vt:lpstr>
      <vt:lpstr>2. DOWNWARD COMMUNICATION</vt:lpstr>
      <vt:lpstr>3. UPWARD COMMUNICATION </vt:lpstr>
      <vt:lpstr>4. HORIZONTAL COMMUNICATION</vt:lpstr>
      <vt:lpstr>5. DIAGONAL COMMUNICATION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TECHNICAL COMMUNICATION</dc:title>
  <dc:creator>acer</dc:creator>
  <cp:lastModifiedBy>acer</cp:lastModifiedBy>
  <cp:revision>11</cp:revision>
  <dcterms:modified xsi:type="dcterms:W3CDTF">2026-07-31T10:15:17Z</dcterms:modified>
</cp:coreProperties>
</file>