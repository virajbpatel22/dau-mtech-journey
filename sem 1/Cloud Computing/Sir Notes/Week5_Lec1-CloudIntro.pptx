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89" r:id="rId4"/>
    <p:sldId id="287" r:id="rId5"/>
    <p:sldId id="288" r:id="rId6"/>
    <p:sldId id="258" r:id="rId7"/>
    <p:sldId id="283" r:id="rId8"/>
    <p:sldId id="284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86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3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2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88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5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77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IN"/>
              <a:t>Is website in old days a SaaS?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25449CBA-05E9-484F-A79A-57E4CBA1B13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4090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D5001C-A529-4088-8221-3E6FCFFD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62634A3-3190-426E-8663-76E53E273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9B82C81-5C2A-4534-AAC1-AB62FD81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3703BB3-2E84-4925-B657-64C8CE969E73}" type="datetimeFigureOut">
              <a:rPr lang="en-IN" smtClean="0"/>
              <a:t>24/08/26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4FBA921-512C-4888-9153-27B67519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A05EDA6-94CC-47FA-B5B2-FE63881C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5504A0-BAAB-48AC-A483-FE469660A5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681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microsoft.com/office/2007/relationships/hdphoto" Target="../media/hdphoto1.wdp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389120"/>
            <a:ext cx="3657600" cy="36576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Computing &amp; the Cloud Landscape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Virtualization, service models (IaaS / PaaS / SaaS), and how organizations choose between private, public, hybrid, and multi-cloud strategies.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94360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Chapters 2 &amp; 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A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207568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and the core idea of leasing servers on demand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0789920" cy="0"/>
          </a:xfrm>
          <a:prstGeom prst="line">
            <a:avLst/>
          </a:prstGeom>
          <a:noFill/>
          <a:ln w="12700">
            <a:solidFill>
              <a:srgbClr val="E3EC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87752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A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2587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971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virtualized servers give providers speed, flexibility, and isolation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0789920" cy="0"/>
          </a:xfrm>
          <a:prstGeom prst="line">
            <a:avLst/>
          </a:prstGeom>
          <a:noFill/>
          <a:ln w="12700">
            <a:solidFill>
              <a:srgbClr val="E3EC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83864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A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00200" y="3483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8679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Platform, and Software as a Service — and Desktop as a Service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25112"/>
            <a:ext cx="10789920" cy="0"/>
          </a:xfrm>
          <a:prstGeom prst="line">
            <a:avLst/>
          </a:prstGeom>
          <a:noFill/>
          <a:ln w="12700">
            <a:solidFill>
              <a:srgbClr val="E3EC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79976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A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00200" y="43799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76402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public, hybrid, and multi-cloud strategies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21224"/>
            <a:ext cx="10789920" cy="0"/>
          </a:xfrm>
          <a:prstGeom prst="line">
            <a:avLst/>
          </a:prstGeom>
          <a:noFill/>
          <a:ln w="12700">
            <a:solidFill>
              <a:srgbClr val="E3EC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276088"/>
            <a:ext cx="914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AAC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00200" y="5276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66013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cloud providers and market growth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and when cloud?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S</a:t>
            </a:r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tartup 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leases cloud facilities for its web </a:t>
            </a:r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site – Pay as required</a:t>
            </a:r>
            <a:endParaRPr lang="en-US" sz="1800" dirty="0">
              <a:latin typeface="Helvetica" charset="0"/>
              <a:ea typeface="Helvetica" charset="0"/>
              <a:cs typeface="Helvetica" charset="0"/>
            </a:endParaRPr>
          </a:p>
          <a:p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S</a:t>
            </a:r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mart 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phone </a:t>
            </a:r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and Smart Home systems</a:t>
            </a:r>
            <a:endParaRPr lang="en-US" sz="1800" dirty="0">
              <a:latin typeface="Helvetica" charset="0"/>
              <a:ea typeface="Helvetica" charset="0"/>
              <a:cs typeface="Helvetica" charset="0"/>
            </a:endParaRPr>
          </a:p>
          <a:p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An 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enterprise </a:t>
            </a:r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leases 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facilities and software for business </a:t>
            </a:r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functions</a:t>
            </a:r>
          </a:p>
          <a:p>
            <a:pPr lvl="1"/>
            <a:r>
              <a:rPr lang="en-US" sz="1400" dirty="0" smtClean="0">
                <a:latin typeface="Helvetica" charset="0"/>
                <a:ea typeface="Helvetica" charset="0"/>
                <a:cs typeface="Helvetica" charset="0"/>
              </a:rPr>
              <a:t>such 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as payroll, accounting, and billing.</a:t>
            </a:r>
          </a:p>
          <a:p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Browser based editing of shared document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.</a:t>
            </a:r>
          </a:p>
          <a:p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Medical device 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that periodically uploads readings </a:t>
            </a:r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for analysis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; </a:t>
            </a:r>
            <a:endParaRPr lang="en-US" sz="1800" dirty="0" smtClean="0">
              <a:latin typeface="Helvetica" charset="0"/>
              <a:ea typeface="Helvetica" charset="0"/>
              <a:cs typeface="Helvetica" charset="0"/>
            </a:endParaRPr>
          </a:p>
          <a:p>
            <a:pPr lvl="1"/>
            <a:r>
              <a:rPr lang="en-US" sz="1400" dirty="0" smtClean="0">
                <a:latin typeface="Helvetica" charset="0"/>
                <a:ea typeface="Helvetica" charset="0"/>
                <a:cs typeface="Helvetica" charset="0"/>
              </a:rPr>
              <a:t>Alert systems</a:t>
            </a:r>
            <a:endParaRPr lang="en-US" sz="1400" dirty="0">
              <a:latin typeface="Helvetica" charset="0"/>
              <a:ea typeface="Helvetica" charset="0"/>
              <a:cs typeface="Helvetica" charset="0"/>
            </a:endParaRPr>
          </a:p>
          <a:p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A 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seasonal company leases computing facilities during </a:t>
            </a:r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5 peak months 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each year</a:t>
            </a:r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;</a:t>
            </a:r>
          </a:p>
          <a:p>
            <a:pPr lvl="1"/>
            <a:r>
              <a:rPr lang="en-US" sz="1400" dirty="0" smtClean="0">
                <a:latin typeface="Helvetica" charset="0"/>
                <a:ea typeface="Helvetica" charset="0"/>
                <a:cs typeface="Helvetica" charset="0"/>
              </a:rPr>
              <a:t>No payment for </a:t>
            </a:r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facilities at other times.</a:t>
            </a:r>
          </a:p>
          <a:p>
            <a:r>
              <a:rPr lang="en-US" sz="1800" dirty="0" smtClean="0">
                <a:latin typeface="Helvetica" charset="0"/>
                <a:ea typeface="Helvetica" charset="0"/>
                <a:cs typeface="Helvetica" charset="0"/>
              </a:rPr>
              <a:t>Log </a:t>
            </a:r>
            <a:r>
              <a:rPr lang="en-US" sz="1800" dirty="0">
                <a:latin typeface="Helvetica" charset="0"/>
                <a:ea typeface="Helvetica" charset="0"/>
                <a:cs typeface="Helvetica" charset="0"/>
              </a:rPr>
              <a:t>into a social media site and uploads photos.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23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Center – What makes it?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683" y="1835564"/>
            <a:ext cx="4158963" cy="4351338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125" y="1475754"/>
            <a:ext cx="3799101" cy="22456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359" y="1475754"/>
            <a:ext cx="4200499" cy="471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8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1999" y="2709571"/>
            <a:ext cx="38696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rgbClr val="000000"/>
                </a:solidFill>
                <a:latin typeface="Helvetica" charset="0"/>
              </a:rPr>
              <a:t>A data center is a</a:t>
            </a:r>
          </a:p>
          <a:p>
            <a:r>
              <a:rPr lang="en-US" sz="2000" i="1" dirty="0">
                <a:solidFill>
                  <a:srgbClr val="000000"/>
                </a:solidFill>
                <a:latin typeface="Helvetica" charset="0"/>
              </a:rPr>
              <a:t>dedicated physical facility</a:t>
            </a:r>
          </a:p>
          <a:p>
            <a:r>
              <a:rPr lang="en-US" sz="2000" i="1" dirty="0">
                <a:solidFill>
                  <a:srgbClr val="000000"/>
                </a:solidFill>
                <a:latin typeface="Helvetica" charset="0"/>
              </a:rPr>
              <a:t>used by organizations to</a:t>
            </a:r>
          </a:p>
          <a:p>
            <a:r>
              <a:rPr lang="en-US" sz="2000" i="1" dirty="0">
                <a:solidFill>
                  <a:srgbClr val="000000"/>
                </a:solidFill>
                <a:latin typeface="Helvetica" charset="0"/>
              </a:rPr>
              <a:t>house their critical</a:t>
            </a:r>
          </a:p>
          <a:p>
            <a:r>
              <a:rPr lang="en-US" sz="2000" i="1" dirty="0">
                <a:solidFill>
                  <a:srgbClr val="000000"/>
                </a:solidFill>
                <a:latin typeface="Helvetica" charset="0"/>
              </a:rPr>
              <a:t>applications, data, and IT</a:t>
            </a:r>
          </a:p>
          <a:p>
            <a:r>
              <a:rPr lang="en-US" sz="2000" i="1" dirty="0">
                <a:solidFill>
                  <a:srgbClr val="000000"/>
                </a:solidFill>
                <a:latin typeface="Helvetica" charset="0"/>
              </a:rPr>
              <a:t>infrastructure.</a:t>
            </a:r>
            <a:endParaRPr lang="en-US" sz="2000" i="1" dirty="0">
              <a:solidFill>
                <a:srgbClr val="000000"/>
              </a:solidFill>
              <a:effectLst/>
              <a:latin typeface="Helvetica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3491947" y="2256183"/>
            <a:ext cx="4949687" cy="261399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667663" y="1202297"/>
            <a:ext cx="10058400" cy="582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800"/>
              </a:lnSpc>
            </a:pPr>
            <a:r>
              <a:rPr lang="en-US" sz="3000" b="1" dirty="0" smtClean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</a:t>
            </a: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it Cloud </a:t>
            </a:r>
            <a:r>
              <a:rPr lang="en-US" sz="3000" b="1" dirty="0" smtClean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Computing?</a:t>
            </a:r>
            <a:endParaRPr lang="en-US" sz="3000" dirty="0">
              <a:solidFill>
                <a:schemeClr val="bg1"/>
              </a:solidFill>
            </a:endParaRPr>
          </a:p>
          <a:p>
            <a:pPr marL="0" indent="0">
              <a:lnSpc>
                <a:spcPts val="3800"/>
              </a:lnSpc>
              <a:buNone/>
            </a:pP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100" y="2841491"/>
            <a:ext cx="6694999" cy="2321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96099" y="2086446"/>
            <a:ext cx="75020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Helvetica" charset="0"/>
              </a:rPr>
              <a:t>how can a web site scale to accommodate thousands of users?</a:t>
            </a:r>
            <a:endParaRPr lang="en-US">
              <a:solidFill>
                <a:schemeClr val="bg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3363635"/>
            <a:ext cx="10058400" cy="99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Rectangle 10"/>
          <p:cNvSpPr/>
          <p:nvPr/>
        </p:nvSpPr>
        <p:spPr>
          <a:xfrm>
            <a:off x="2637845" y="1312050"/>
            <a:ext cx="79691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" charset="0"/>
              </a:rPr>
              <a:t>Saying a data center is “in the cloud” is technically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</a:rPr>
              <a:t>inaccurate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>
                <a:solidFill>
                  <a:srgbClr val="000000"/>
                </a:solidFill>
                <a:latin typeface="Helvetica" charset="0"/>
              </a:rPr>
              <a:t> Servers </a:t>
            </a:r>
            <a:r>
              <a:rPr lang="en-US" dirty="0">
                <a:solidFill>
                  <a:srgbClr val="000000"/>
                </a:solidFill>
                <a:latin typeface="Helvetica" charset="0"/>
              </a:rPr>
              <a:t>in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</a:rPr>
              <a:t>a data </a:t>
            </a:r>
            <a:r>
              <a:rPr lang="en-US" dirty="0">
                <a:solidFill>
                  <a:srgbClr val="000000"/>
                </a:solidFill>
                <a:latin typeface="Helvetica" charset="0"/>
              </a:rPr>
              <a:t>center are not part of the Internet itself. </a:t>
            </a:r>
            <a:endParaRPr lang="en-US" dirty="0" smtClean="0">
              <a:solidFill>
                <a:srgbClr val="000000"/>
              </a:solidFill>
              <a:latin typeface="Helvetica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dirty="0" smtClean="0">
                <a:solidFill>
                  <a:srgbClr val="000000"/>
                </a:solidFill>
                <a:latin typeface="Helvetica" charset="0"/>
              </a:rPr>
              <a:t>Instead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  <a:sym typeface="Wingdings"/>
              </a:rPr>
              <a:t>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</a:rPr>
              <a:t> Merely </a:t>
            </a:r>
            <a:r>
              <a:rPr lang="en-US" dirty="0">
                <a:solidFill>
                  <a:srgbClr val="000000"/>
                </a:solidFill>
                <a:latin typeface="Helvetica" charset="0"/>
              </a:rPr>
              <a:t>computers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</a:rPr>
              <a:t>attach </a:t>
            </a:r>
            <a:r>
              <a:rPr lang="en-US" dirty="0">
                <a:solidFill>
                  <a:srgbClr val="000000"/>
                </a:solidFill>
                <a:latin typeface="Helvetica" charset="0"/>
              </a:rPr>
              <a:t>to the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</a:rPr>
              <a:t>Internet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solidFill>
                  <a:srgbClr val="000000"/>
                </a:solidFill>
                <a:latin typeface="Helvetica" charset="0"/>
              </a:rPr>
              <a:t>D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</a:rPr>
              <a:t>epicted </a:t>
            </a:r>
            <a:r>
              <a:rPr lang="en-US" dirty="0">
                <a:solidFill>
                  <a:srgbClr val="000000"/>
                </a:solidFill>
                <a:latin typeface="Helvetica" charset="0"/>
              </a:rPr>
              <a:t>outside the cloud, with network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</a:rPr>
              <a:t>connections </a:t>
            </a:r>
            <a:r>
              <a:rPr lang="en-US" dirty="0">
                <a:solidFill>
                  <a:srgbClr val="000000"/>
                </a:solidFill>
                <a:latin typeface="Helvetica" charset="0"/>
              </a:rPr>
              <a:t>leading to the cloud.</a:t>
            </a:r>
            <a:endParaRPr lang="en-US" dirty="0">
              <a:solidFill>
                <a:srgbClr val="000000"/>
              </a:solidFill>
              <a:effectLst/>
              <a:latin typeface="Helvetica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97603" y="2669363"/>
            <a:ext cx="92294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" charset="0"/>
              </a:rPr>
              <a:t>Why did the industry start using the terms cloud computing and say that the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</a:rPr>
              <a:t>computing </a:t>
            </a:r>
            <a:r>
              <a:rPr lang="en-US" dirty="0">
                <a:solidFill>
                  <a:srgbClr val="000000"/>
                </a:solidFill>
                <a:latin typeface="Helvetica" charset="0"/>
              </a:rPr>
              <a:t>is in the cloud if it is not?</a:t>
            </a:r>
            <a:endParaRPr lang="en-US" dirty="0">
              <a:solidFill>
                <a:srgbClr val="000000"/>
              </a:solidFill>
              <a:effectLst/>
              <a:latin typeface="Helvetica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64179" y="3472678"/>
            <a:ext cx="657738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Early data centers needed fast links to Internet 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backbones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Placing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them near peering points (where backbones connect) cut 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costs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Some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sat in the same building/floor as peering 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equipment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This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closeness led engineers to say the center was "in the cloud" — term </a:t>
            </a:r>
            <a:r>
              <a:rPr lang="en-US" dirty="0" smtClean="0">
                <a:latin typeface="Helvetica" charset="0"/>
                <a:ea typeface="Helvetica" charset="0"/>
                <a:cs typeface="Helvetica" charset="0"/>
              </a:rPr>
              <a:t>stuck</a:t>
            </a:r>
          </a:p>
          <a:p>
            <a:pPr marL="285750" indent="-285750">
              <a:buFont typeface="Arial" charset="0"/>
              <a:buChar char="•"/>
            </a:pPr>
            <a:r>
              <a:rPr lang="en-US" b="1" i="1" u="sng" dirty="0" smtClean="0">
                <a:latin typeface="Helvetica" charset="0"/>
                <a:ea typeface="Helvetica" charset="0"/>
                <a:cs typeface="Helvetica" charset="0"/>
              </a:rPr>
              <a:t>Phrase </a:t>
            </a:r>
            <a:r>
              <a:rPr lang="en-US" b="1" i="1" u="sng" dirty="0">
                <a:latin typeface="Helvetica" charset="0"/>
                <a:ea typeface="Helvetica" charset="0"/>
                <a:cs typeface="Helvetica" charset="0"/>
              </a:rPr>
              <a:t>is technically inaccurate, but that's its origin</a:t>
            </a:r>
          </a:p>
        </p:txBody>
      </p:sp>
    </p:spTree>
    <p:extLst>
      <p:ext uri="{BB962C8B-B14F-4D97-AF65-F5344CB8AC3E}">
        <p14:creationId xmlns:p14="http://schemas.microsoft.com/office/powerpoint/2010/main" val="214699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changes when a data center starts serving many different customer organizations instead of just one?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35142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Clouds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center that serves customers from many organizations at once.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Helvetica" charset="0"/>
                <a:ea typeface="Helvetica" charset="0"/>
                <a:cs typeface="Helvetica" charset="0"/>
              </a:rPr>
              <a:t>Consolidating servers into one data center already saves money — quantity discounts on hardware and less IT staff overhead.
</a:t>
            </a:r>
            <a:endParaRPr lang="en-US" sz="1500" dirty="0">
              <a:latin typeface="Helvetica" charset="0"/>
              <a:ea typeface="Helvetica" charset="0"/>
              <a:cs typeface="Helvetica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Helvetica" charset="0"/>
                <a:ea typeface="Helvetica" charset="0"/>
                <a:cs typeface="Helvetica" charset="0"/>
              </a:rPr>
              <a:t>Cloud providers extend that advantage to a much larger scale: one facility handles computing for </a:t>
            </a:r>
            <a:r>
              <a:rPr lang="en-US" sz="1500" b="1" dirty="0">
                <a:solidFill>
                  <a:srgbClr val="065A82"/>
                </a:solidFill>
                <a:latin typeface="Helvetica" charset="0"/>
                <a:ea typeface="Helvetica" charset="0"/>
                <a:cs typeface="Helvetica" charset="0"/>
              </a:rPr>
              <a:t>many customers</a:t>
            </a:r>
            <a:r>
              <a:rPr lang="en-US" sz="1500" dirty="0">
                <a:solidFill>
                  <a:srgbClr val="1B1F2A"/>
                </a:solidFill>
                <a:latin typeface="Helvetica" charset="0"/>
                <a:ea typeface="Helvetica" charset="0"/>
                <a:cs typeface="Helvetica" charset="0"/>
              </a:rPr>
              <a:t> at once, not just one organization.</a:t>
            </a:r>
            <a:endParaRPr lang="en-US" sz="15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5577840" cy="1371600"/>
          </a:xfrm>
          <a:prstGeom prst="roundRect">
            <a:avLst>
              <a:gd name="adj" fmla="val 6667"/>
            </a:avLst>
          </a:prstGeom>
          <a:solidFill>
            <a:srgbClr val="CFE8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72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1295C"/>
                </a:solidFill>
                <a:latin typeface="Helvetica" charset="0"/>
                <a:ea typeface="Helvetica" charset="0"/>
                <a:cs typeface="Helvetica" charset="0"/>
              </a:rPr>
              <a:t>Multi-tenancy also applies inside a single organization — e.g., a finance department keeping its data fully separate from the rest of the company.</a:t>
            </a:r>
            <a:endParaRPr lang="en-US" sz="13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06640" y="1965960"/>
            <a:ext cx="4206240" cy="288036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130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CENTER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58100" y="26517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58100" y="2651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24060" y="26517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4060" y="2651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58100" y="37490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8100" y="37490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24060" y="374904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4060" y="37490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company avoid paying for servers it isn't using, without running out of capacity during a busy period?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problem elastic computing was built to solve.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 of Elastic Computing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only what you need — and change it at any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66928" cy="91440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3108960"/>
            <a:ext cx="566928" cy="146304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3474720"/>
            <a:ext cx="566928" cy="109728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2743200"/>
            <a:ext cx="566928" cy="182880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0" y="2194560"/>
            <a:ext cx="566928" cy="237744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926080"/>
            <a:ext cx="566928" cy="16459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0" y="3566160"/>
            <a:ext cx="566928" cy="100584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572000"/>
            <a:ext cx="5852160" cy="0"/>
          </a:xfrm>
          <a:prstGeom prst="line">
            <a:avLst/>
          </a:prstGeom>
          <a:noFill/>
          <a:ln w="19050">
            <a:solidFill>
              <a:srgbClr val="5B7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817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LEASED OVER 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20116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892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what you use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0" y="220370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lease a few servers or many, and pay only for that number.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0" y="294436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8254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allocation dynamically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0" y="31363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servers during peak times, decrease them when demand drops.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0" y="387705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37581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approach: fixed sizes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0690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Rack, half-rack, or quarter-rack allocations — flexible, but still tied to physical resources.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data center never reboots or reconfigures a physical machine, how can it launch a brand-new server in milliseconds?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lies in virtualization.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Virtualized Servers for Rapid Change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don't allocate physical machines — they run software that creates virtualized servers.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CFE8F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688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Creation &amp; Removal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entirely by software — a server can be created or removed at any time, with no reboot of physical machines.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88536" y="21488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4608576" y="24688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608576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Sharing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08576" y="39776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virtualized server is a software artifact. Many virtualized servers can run on one physical server concurrently.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28432" y="214884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CFE8F3"/>
          </a:solidFill>
          <a:ln/>
        </p:spPr>
      </p:sp>
      <p:sp>
        <p:nvSpPr>
          <p:cNvPr id="16" name="Shape 14"/>
          <p:cNvSpPr/>
          <p:nvPr/>
        </p:nvSpPr>
        <p:spPr>
          <a:xfrm>
            <a:off x="8348472" y="24688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348472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348472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Isolation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48472" y="397764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virtualized server is fully isolated — no other tenant can observe or affect its data or computations.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Virtualization clearly saves the provider money — but what does it actually do for the customer?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real benefits on both sides of the relationship.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Benefits, and How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299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029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Provider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307695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889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takes milliseconds, not minutes — scales to thousands of virtualized servers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76275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753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reconfigure or reboot physical servers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44855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1605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lets tenants mix freely on the same physical server, with zero data leakage risk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52349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94690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balancing: place new servers on lightly-loaded machines to avoid overload while others sit idle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CFE8F3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20299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☺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52360" y="2029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Customer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720840" y="307695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27889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virtualized server acts just like a physical one, with its own Internet address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3863340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357530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creating and deploying new services with provider/vendor tooling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464972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436168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scaling — add copies of an app as requests arrive over the Internet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20840" y="533552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5148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isolated testing of new software before it reaches production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just want to run a website, do you really need to buy and manage your own servers?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choice cloud service models let you make.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Buy the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move up the stack, the provider manages more — and you manage less.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377440" y="2313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26791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finished applications — e.g., Office 365. You manage nothing but your account.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612648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77440" y="3685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77440" y="405079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deploy software without managing the underlying infrastructure.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0B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9204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377440" y="5056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77440" y="54223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storage, and networking. You choose the OS and applications.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21040" y="2148840"/>
            <a:ext cx="457200" cy="3977640"/>
          </a:xfrm>
          <a:prstGeom prst="roundRect">
            <a:avLst>
              <a:gd name="adj" fmla="val 12000"/>
            </a:avLst>
          </a:prstGeom>
          <a:solidFill>
            <a:srgbClr val="0B3D5C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1691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YOU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18120" y="61996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PROVIDER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DaaS (Desktop as a Service): a full remote desktop delivered from the cloud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1D097B-79C5-4111-8DE4-4354B758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28" y="365125"/>
            <a:ext cx="9394372" cy="1325563"/>
          </a:xfrm>
        </p:spPr>
        <p:txBody>
          <a:bodyPr/>
          <a:lstStyle/>
          <a:p>
            <a:r>
              <a:rPr lang="en-IN"/>
              <a:t>Cloud Delivery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D3A377-F9A6-480A-AA95-CD86836E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25347" cy="4351338"/>
          </a:xfrm>
        </p:spPr>
        <p:txBody>
          <a:bodyPr/>
          <a:lstStyle/>
          <a:p>
            <a:r>
              <a:rPr lang="en-IN" sz="2000" dirty="0">
                <a:latin typeface="Helvetica" charset="0"/>
                <a:ea typeface="Helvetica" charset="0"/>
                <a:cs typeface="Helvetica" charset="0"/>
              </a:rPr>
              <a:t>IaaS – Infrastructure as a Service</a:t>
            </a:r>
          </a:p>
          <a:p>
            <a:r>
              <a:rPr lang="en-IN" sz="2000" dirty="0">
                <a:latin typeface="Helvetica" charset="0"/>
                <a:ea typeface="Helvetica" charset="0"/>
                <a:cs typeface="Helvetica" charset="0"/>
              </a:rPr>
              <a:t>PaaS – Platform as a Service</a:t>
            </a:r>
          </a:p>
          <a:p>
            <a:r>
              <a:rPr lang="en-IN" sz="2000" dirty="0">
                <a:latin typeface="Helvetica" charset="0"/>
                <a:ea typeface="Helvetica" charset="0"/>
                <a:cs typeface="Helvetica" charset="0"/>
              </a:rPr>
              <a:t>SaaS – Software as a Service</a:t>
            </a:r>
          </a:p>
          <a:p>
            <a:endParaRPr lang="en-IN" sz="2000" dirty="0">
              <a:latin typeface="Helvetica" charset="0"/>
              <a:ea typeface="Helvetica" charset="0"/>
              <a:cs typeface="Helvetica" charset="0"/>
            </a:endParaRPr>
          </a:p>
          <a:p>
            <a:pPr marL="0" indent="0">
              <a:buNone/>
            </a:pPr>
            <a:r>
              <a:rPr lang="en-IN" sz="2000" dirty="0">
                <a:latin typeface="Helvetica" charset="0"/>
                <a:ea typeface="Helvetica" charset="0"/>
                <a:cs typeface="Helvetica" charset="0"/>
              </a:rPr>
              <a:t>Combining Cloud Delivery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B8AF2A9-687C-4DF5-8394-F02C71BA054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7" y="-115602"/>
            <a:ext cx="1828801" cy="147524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="" xmlns:a16="http://schemas.microsoft.com/office/drawing/2014/main" id="{70098AFB-965F-4BFC-8825-84AB8E7E8C25}"/>
              </a:ext>
            </a:extLst>
          </p:cNvPr>
          <p:cNvSpPr txBox="1">
            <a:spLocks/>
          </p:cNvSpPr>
          <p:nvPr/>
        </p:nvSpPr>
        <p:spPr>
          <a:xfrm>
            <a:off x="454559" y="435912"/>
            <a:ext cx="1180935" cy="3722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100" b="1" spc="300">
                <a:latin typeface="Courier New" panose="02070309020205020404" pitchFamily="49" charset="0"/>
                <a:cs typeface="Courier New" panose="02070309020205020404" pitchFamily="49" charset="0"/>
              </a:rPr>
              <a:t>BUILDING BLOCKS</a:t>
            </a:r>
          </a:p>
        </p:txBody>
      </p:sp>
      <p:pic>
        <p:nvPicPr>
          <p:cNvPr id="7" name="Picture 6" descr="A screenshot of a cell phone&#10;&#10;Description generated with very high confidence">
            <a:extLst>
              <a:ext uri="{FF2B5EF4-FFF2-40B4-BE49-F238E27FC236}">
                <a16:creationId xmlns="" xmlns:a16="http://schemas.microsoft.com/office/drawing/2014/main" id="{73AE98CD-0980-46D9-B033-00B7599B60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547" y="1359641"/>
            <a:ext cx="7098994" cy="439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9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the real difference between renting raw infrastructure and renting a platform to build on?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comes down to how much of the stack the provider manages for you.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 &amp; PaaS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CFE8F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8424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4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building, power, cooling, servers, networking, and basic block storage.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8313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balancers, backup, network security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379976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4270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physical &amp; virtualized servers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818888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picks OS, apps, firewall rules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5257800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5148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advanced offerings auto-scale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0840" y="1984248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1984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766560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6656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deploy software without managing the underlying facility.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394106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967728" y="38313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Compilers, middleware, runtimes (Java, .NET)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766560" y="4379976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967728" y="4270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customer's applications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66560" y="481888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967728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called “Framework as a Service”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66560" y="525780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967728" y="5148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PaaS tools run on-prem, behind your firewall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editing a file on your laptop just... show up correctly when you open it on your phone?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guarantee is baked into how SaaS is built.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SaaS: Three Guarantees to Customers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subscription model: apps and files live in the cloud, not on the user's device.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CFE8F3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762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63040" y="2176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Access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78892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same apps and files from any device, any time — via app or browser login.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CFE8F3"/>
          </a:solidFill>
          <a:ln/>
        </p:spPr>
      </p:sp>
      <p:sp>
        <p:nvSpPr>
          <p:cNvPr id="11" name="Shape 9"/>
          <p:cNvSpPr/>
          <p:nvPr/>
        </p:nvSpPr>
        <p:spPr>
          <a:xfrm>
            <a:off x="4544568" y="21762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202936" y="2176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Sync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4568" y="278892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copy of each file exists. Changes on one device appear everywhere — no manual re-sync.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CFE8F3"/>
          </a:solidFill>
          <a:ln/>
        </p:spPr>
      </p:sp>
      <p:sp>
        <p:nvSpPr>
          <p:cNvPr id="16" name="Shape 14"/>
          <p:cNvSpPr/>
          <p:nvPr/>
        </p:nvSpPr>
        <p:spPr>
          <a:xfrm>
            <a:off x="8284464" y="21762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942832" y="21762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84464" y="278892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power and off-site data backups mean service survives outages, even disasters.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0881360" cy="1691640"/>
          </a:xfrm>
          <a:prstGeom prst="roundRect">
            <a:avLst>
              <a:gd name="adj" fmla="val 6486"/>
            </a:avLst>
          </a:prstGeom>
          <a:solidFill>
            <a:srgbClr val="21295C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26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828800" y="43891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Case: Desktop as a Service (DaaS)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28800" y="4773168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app, DaaS delivers an entire remote desktop — OS, apps, and files all run in the cloud. All of a user's computing gets universal access, sync, and high availability, not just a single application.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public cloud is usually cheaper, why would any organization still build and run its own data center?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have real trade-offs — let's compare them directly.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Cloud vs. Public Cloud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CFE8F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cloud, owned and operated by one organization, for its own use.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elastic principles internally avoids underutilized AND oversubscribed servers by spreading computing across all physical machines — even when different departments' demand varies.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52360" y="1965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720840" y="2697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service, operated by a provider, used by many customer organizations.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3429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choose a service tier — large enterprises often want IaaS with add-on security &amp; backup; builders want PaaS; smaller customers may just subscribe to a single SaaS offering.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lower cost, what does a public cloud provider offer that's genuinely hard to build in-house?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scale, staff, and services a single company can't easily replicate.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Public Cloud?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671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297180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410712"/>
            <a:ext cx="2843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of scale: bigger discounts on hardware, shared whitebox switches run by SDN, and shared IT staff — cited savings up to ~75% vs. private deployment.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18745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4581144" y="21671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81144" y="297180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81144" y="3410712"/>
            <a:ext cx="2843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specialized staff across a far wider range of topics than any single in-house IT team, including AI/ML.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28432" y="18745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1671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21040" y="297180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Services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410712"/>
            <a:ext cx="2843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automates operations and monitors for anomalies; platforms let engineers deploy apps without learning the infrastructure underneath.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providers court lock-in — free convenience services and migration tools that make it costly to ever switch providers.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public cloud offers more expertise and a lower price, what could possibly justify staying private?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isn't the only thing that matters to an organization.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Private Cloud?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isn't the answer for everyone — private cloud trades some savings for control.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CFE8F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731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21305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Visibility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496312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root-cause access to your own switches and servers; helps satisfy regulatory requirements on data placement and handling.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CFE8F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83280"/>
            <a:ext cx="731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737360" y="35478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Latency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3913632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facilities cut the delay between employees and the data center, especially useful for geographically distant public cloud sites.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CFE8F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00600"/>
            <a:ext cx="731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737360" y="49651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Rate-Hike Insurance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5330952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provider lock-in risk. As adoption of a provider's services deepens, switching costs rise and the provider can raise prices.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choosing a cloud strategy really an all-or-nothing decision between private and public?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large organizations land somewhere in between.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&amp; Multi-Cloud Strategies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CFE8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mix: some computing stays on a private cloud, the rest runs on a public provider.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when needed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52958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regulated / classified data on the private side; push the rest to public cloud to cut cost.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overflow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7183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peak-season demand by sending overflow work to the public cloud instead of buying idle capacity.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720840" y="2468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more than one public cloud provider to avoid dependence on any single one.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it: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3474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lock-in risk. Large orgs may split business units across providers.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2084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0840" y="4480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between providers is hard; service parity varies; may require custom software to translate or combine outputs across providers.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C7293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few companies actually run most of the world's public cloud infrastructure?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29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more concentrated than most people expect.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Hyperscalers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own and operate the largest cloud computing facilities.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CFE8F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6791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2006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88536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CFE8F3"/>
          </a:solidFill>
          <a:ln/>
        </p:spPr>
      </p:sp>
      <p:sp>
        <p:nvSpPr>
          <p:cNvPr id="10" name="Text 8"/>
          <p:cNvSpPr/>
          <p:nvPr/>
        </p:nvSpPr>
        <p:spPr>
          <a:xfrm>
            <a:off x="4562856" y="213055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62856" y="26791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Cloud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62856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2010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28432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CFE8F3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213055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02752" y="26791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02752" y="32004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cloud offering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605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$11B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per year on new servers by 2018 (Google, Amazon, Microsoft, Facebook, Alibaba combined)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0" y="41605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$32.2B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389120" y="480060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cloud revenue by 2018 — 29% of total company revenue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55280" y="41605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$25.7B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955280" y="4800600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AWS revenue by 2018 — 11% of total company revenue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09728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computing lets customers lease exactly the capacity they need, and change it at any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— rapid creation, physical sharing, and logical isolation — is what makes elasticity possible.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6118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PaaS, and SaaS trade customer control for provider-managed convenience, with DaaS as a special SaaS case.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44805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public, hybrid, and multi-cloud each balance cost, control, and lock-in risk differently.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492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hyperscalers — AWS, Azure, GCP — dominate the public cloud market.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Lecture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2223</Words>
  <Application>Microsoft Macintosh PowerPoint</Application>
  <PresentationFormat>Widescreen</PresentationFormat>
  <Paragraphs>368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Calibri</vt:lpstr>
      <vt:lpstr>Calibri Light</vt:lpstr>
      <vt:lpstr>Cambria</vt:lpstr>
      <vt:lpstr>Courier New</vt:lpstr>
      <vt:lpstr>Helvetica</vt:lpstr>
      <vt:lpstr>Wingdings</vt:lpstr>
      <vt:lpstr>Arial</vt:lpstr>
      <vt:lpstr>Office Theme</vt:lpstr>
      <vt:lpstr>PowerPoint Presentation</vt:lpstr>
      <vt:lpstr>PowerPoint Presentation</vt:lpstr>
      <vt:lpstr>Why and when cloud?</vt:lpstr>
      <vt:lpstr>Data Center – What makes it?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Cloud Delivery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4</cp:revision>
  <dcterms:created xsi:type="dcterms:W3CDTF">2026-08-24T09:29:16Z</dcterms:created>
  <dcterms:modified xsi:type="dcterms:W3CDTF">2026-08-24T11:14:21Z</dcterms:modified>
</cp:coreProperties>
</file>