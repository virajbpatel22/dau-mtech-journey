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4" r:id="rId3"/>
    <p:sldId id="269" r:id="rId4"/>
    <p:sldId id="270" r:id="rId5"/>
    <p:sldId id="257" r:id="rId6"/>
    <p:sldId id="258" r:id="rId7"/>
    <p:sldId id="259" r:id="rId8"/>
    <p:sldId id="260" r:id="rId9"/>
    <p:sldId id="261" r:id="rId10"/>
    <p:sldId id="271" r:id="rId11"/>
    <p:sldId id="263" r:id="rId12"/>
    <p:sldId id="264" r:id="rId13"/>
    <p:sldId id="272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2"/>
    <p:restoredTop sz="94629"/>
  </p:normalViewPr>
  <p:slideViewPr>
    <p:cSldViewPr snapToGrid="0" snapToObjects="1">
      <p:cViewPr>
        <p:scale>
          <a:sx n="186" d="100"/>
          <a:sy n="186" d="100"/>
        </p:scale>
        <p:origin x="1128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F888A-BAB8-5947-BDA4-843B7FA1CD7D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F1BC2-A15B-0D4E-A79A-18BCD1BC2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3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F1BC2-A15B-0D4E-A79A-18BCD1BC2B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6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78160" y="2639466"/>
            <a:ext cx="5435679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Virtual Machines in</a:t>
            </a:r>
            <a:r>
              <a:t>
</a:t>
            </a:r>
            <a:r>
              <a:rPr sz="4200" b="1" i="0" u="none">
                <a:solidFill>
                  <a:srgbClr val="0F172A"/>
                </a:solidFill>
                <a:latin typeface="Poppins"/>
              </a:rPr>
              <a:t> Cloud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4037558"/>
            <a:ext cx="80962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An analysis of virtualization mechanisms, hypervisor architectures, and hardware privilege execution models based on Chapter 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3346" y="1271027"/>
            <a:ext cx="7772400" cy="1470025"/>
          </a:xfrm>
        </p:spPr>
        <p:txBody>
          <a:bodyPr/>
          <a:lstStyle/>
          <a:p>
            <a:r>
              <a:rPr lang="en-US" dirty="0" smtClean="0"/>
              <a:t>IT457</a:t>
            </a:r>
            <a:br>
              <a:rPr lang="en-US" dirty="0" smtClean="0"/>
            </a:br>
            <a:r>
              <a:rPr lang="en-US" dirty="0" smtClean="0"/>
              <a:t>Cloud Computing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1648" y="3336185"/>
            <a:ext cx="6400800" cy="1752600"/>
          </a:xfrm>
        </p:spPr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Week5_Lec2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Introduction to  Virtualization 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54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200" y="1587500"/>
            <a:ext cx="9245600" cy="36703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Machine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58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Hypervisor </a:t>
            </a:r>
            <a:endParaRPr lang="en-US" sz="36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57979" y="1417638"/>
            <a:ext cx="5041075" cy="3007426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Software used for creating </a:t>
            </a:r>
            <a:r>
              <a:rPr lang="en-US" sz="1800" dirty="0">
                <a:latin typeface="Times New Roman" charset="0"/>
                <a:ea typeface="Times New Roman" charset="0"/>
                <a:cs typeface="Times New Roman" charset="0"/>
              </a:rPr>
              <a:t>and managing VMs </a:t>
            </a: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  <a:sym typeface="Wingdings"/>
              </a:rPr>
              <a:t></a:t>
            </a: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z="1800" i="1" u="sng" dirty="0" smtClean="0">
                <a:latin typeface="Times New Roman" charset="0"/>
                <a:ea typeface="Times New Roman" charset="0"/>
                <a:cs typeface="Times New Roman" charset="0"/>
              </a:rPr>
              <a:t>a </a:t>
            </a:r>
            <a:r>
              <a:rPr lang="en-US" sz="1800" i="1" u="sng" dirty="0">
                <a:latin typeface="Times New Roman" charset="0"/>
                <a:ea typeface="Times New Roman" charset="0"/>
                <a:cs typeface="Times New Roman" charset="0"/>
              </a:rPr>
              <a:t>hypervisor. </a:t>
            </a:r>
            <a:endParaRPr lang="en-US" sz="1800" i="1" u="sng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sz="1800" dirty="0"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ontrolling </a:t>
            </a:r>
            <a:r>
              <a:rPr lang="en-US" sz="1800" dirty="0">
                <a:latin typeface="Times New Roman" charset="0"/>
                <a:ea typeface="Times New Roman" charset="0"/>
                <a:cs typeface="Times New Roman" charset="0"/>
              </a:rPr>
              <a:t>the underlying hardware. </a:t>
            </a:r>
            <a:endParaRPr lang="en-US" sz="18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lvl="1"/>
            <a:r>
              <a:rPr lang="en-US" sz="1400" dirty="0" smtClean="0">
                <a:latin typeface="Times New Roman" charset="0"/>
                <a:ea typeface="Times New Roman" charset="0"/>
                <a:cs typeface="Times New Roman" charset="0"/>
              </a:rPr>
              <a:t>Each</a:t>
            </a:r>
            <a:r>
              <a:rPr lang="en-US" sz="1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z="1400" dirty="0" smtClean="0">
                <a:latin typeface="Times New Roman" charset="0"/>
                <a:ea typeface="Times New Roman" charset="0"/>
                <a:cs typeface="Times New Roman" charset="0"/>
              </a:rPr>
              <a:t>VM </a:t>
            </a:r>
            <a:r>
              <a:rPr lang="en-US" sz="1400" dirty="0">
                <a:latin typeface="Times New Roman" charset="0"/>
                <a:ea typeface="Times New Roman" charset="0"/>
                <a:cs typeface="Times New Roman" charset="0"/>
              </a:rPr>
              <a:t>the hypervisor creates is independent of other VMs.</a:t>
            </a:r>
          </a:p>
          <a:p>
            <a:endParaRPr lang="en-US" sz="1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266" y="3843132"/>
            <a:ext cx="5516192" cy="2187218"/>
          </a:xfrm>
          <a:prstGeom prst="rect">
            <a:avLst/>
          </a:prstGeom>
        </p:spPr>
      </p:pic>
      <p:sp>
        <p:nvSpPr>
          <p:cNvPr id="6" name="Content Placeholder 3"/>
          <p:cNvSpPr txBox="1">
            <a:spLocks/>
          </p:cNvSpPr>
          <p:nvPr/>
        </p:nvSpPr>
        <p:spPr>
          <a:xfrm>
            <a:off x="617517" y="1417638"/>
            <a:ext cx="5041075" cy="30074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charset="0"/>
                <a:ea typeface="Times New Roman" charset="0"/>
                <a:cs typeface="Times New Roman" charset="0"/>
              </a:rPr>
              <a:t>load software onto a server</a:t>
            </a:r>
          </a:p>
          <a:p>
            <a:pPr lvl="1"/>
            <a:r>
              <a:rPr lang="en-US" sz="1600" dirty="0" smtClean="0">
                <a:latin typeface="Times New Roman" charset="0"/>
                <a:ea typeface="Times New Roman" charset="0"/>
                <a:cs typeface="Times New Roman" charset="0"/>
              </a:rPr>
              <a:t>Allows to create many VMs</a:t>
            </a:r>
          </a:p>
          <a:p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Allow tenant (owner of VM)</a:t>
            </a:r>
          </a:p>
          <a:p>
            <a:pPr lvl="1"/>
            <a:r>
              <a:rPr lang="en-US" sz="1600" dirty="0" smtClean="0">
                <a:latin typeface="Times New Roman" charset="0"/>
                <a:ea typeface="Times New Roman" charset="0"/>
                <a:cs typeface="Times New Roman" charset="0"/>
              </a:rPr>
              <a:t>Boot OS on VM</a:t>
            </a:r>
          </a:p>
          <a:p>
            <a:pPr lvl="1"/>
            <a:r>
              <a:rPr lang="en-US" sz="1600" dirty="0" smtClean="0">
                <a:latin typeface="Times New Roman" charset="0"/>
                <a:ea typeface="Times New Roman" charset="0"/>
                <a:cs typeface="Times New Roman" charset="0"/>
              </a:rPr>
              <a:t>Use OS to launch apps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0159" y="1182532"/>
            <a:ext cx="5197643" cy="1959429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7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43759" y="1417638"/>
            <a:ext cx="3829480" cy="1861827"/>
          </a:xfrm>
          <a:prstGeom prst="roundRect">
            <a:avLst/>
          </a:prstGeom>
          <a:solidFill>
            <a:srgbClr val="00B0F0">
              <a:alpha val="21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17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10212" y="2412950"/>
            <a:ext cx="11715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5538" y="2784425"/>
            <a:ext cx="7380922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0F172A"/>
                </a:solidFill>
                <a:latin typeface="Poppins"/>
              </a:rPr>
              <a:t>Approaches to Virtualization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851225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38475" y="4079825"/>
            <a:ext cx="6115050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Exploring Software Emulation, Para-virtualization, and Full Virtualization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58764"/>
            <a:ext cx="3530649" cy="31500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749" y="2258764"/>
            <a:ext cx="3530649" cy="31500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999" y="2258764"/>
            <a:ext cx="3530649" cy="31500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2573089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3296989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Software Emulation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25614"/>
            <a:ext cx="2901999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Translates hypothetical instructions via byte code interpreters. Provides portability across hardware but introduces high execution overhead.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074" y="2573089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296989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Para-virtualization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5683" y="3611314"/>
            <a:ext cx="2901999" cy="179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976"/>
              </a:lnSpc>
              <a:buFont typeface="Arial" charset="0"/>
              <a:buChar char="•"/>
            </a:pPr>
            <a:r>
              <a:rPr lang="en-US" sz="1275" b="0" i="0" u="none" dirty="0" smtClean="0">
                <a:solidFill>
                  <a:srgbClr val="475569"/>
                </a:solidFill>
                <a:latin typeface="Inter"/>
              </a:rPr>
              <a:t>Multiple </a:t>
            </a:r>
            <a:r>
              <a:rPr lang="en-US" sz="1275" b="0" i="0" u="none" dirty="0" err="1" smtClean="0">
                <a:solidFill>
                  <a:srgbClr val="475569"/>
                </a:solidFill>
                <a:latin typeface="Inter"/>
              </a:rPr>
              <a:t>OS’es</a:t>
            </a:r>
            <a:r>
              <a:rPr lang="en-US" sz="1275" b="0" i="0" u="none" dirty="0" smtClean="0">
                <a:solidFill>
                  <a:srgbClr val="475569"/>
                </a:solidFill>
                <a:latin typeface="Inter"/>
              </a:rPr>
              <a:t> to run on single PC/server</a:t>
            </a:r>
          </a:p>
          <a:p>
            <a:pPr marL="285750" indent="-285750" algn="l">
              <a:lnSpc>
                <a:spcPts val="1976"/>
              </a:lnSpc>
              <a:buFont typeface="Arial" charset="0"/>
              <a:buChar char="•"/>
            </a:pPr>
            <a:r>
              <a:rPr sz="1275" b="0" i="0" u="none" dirty="0" smtClean="0">
                <a:solidFill>
                  <a:srgbClr val="475569"/>
                </a:solidFill>
                <a:latin typeface="Inter"/>
              </a:rPr>
              <a:t>Replaces 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privileged OS instructions with hypervisor calls. </a:t>
            </a:r>
            <a:endParaRPr lang="en-US" sz="1275" b="0" i="0" u="none" dirty="0" smtClean="0">
              <a:solidFill>
                <a:srgbClr val="475569"/>
              </a:solidFill>
              <a:latin typeface="Inter"/>
            </a:endParaRPr>
          </a:p>
          <a:p>
            <a:pPr marL="285750" indent="-285750" algn="l">
              <a:lnSpc>
                <a:spcPts val="1976"/>
              </a:lnSpc>
              <a:buFont typeface="Arial" charset="0"/>
              <a:buChar char="•"/>
            </a:pPr>
            <a:r>
              <a:rPr sz="1275" b="0" i="0" u="none" dirty="0" smtClean="0">
                <a:solidFill>
                  <a:srgbClr val="475569"/>
                </a:solidFill>
                <a:latin typeface="Inter"/>
              </a:rPr>
              <a:t>Offers 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near-native execution speed but requires modified operating system code.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4324" y="2573089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04324" y="3296989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Full Virtualization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4324" y="3725614"/>
            <a:ext cx="2901999" cy="125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976"/>
              </a:lnSpc>
              <a:buFont typeface="Arial" charset="0"/>
              <a:buChar char="•"/>
            </a:pPr>
            <a:r>
              <a:rPr sz="1275" b="0" i="0" u="none" dirty="0">
                <a:solidFill>
                  <a:srgbClr val="475569"/>
                </a:solidFill>
                <a:latin typeface="Inter"/>
              </a:rPr>
              <a:t>Emulates commercial instruction sets seamlessly. </a:t>
            </a:r>
            <a:endParaRPr lang="en-US" sz="1275" b="0" i="0" u="none" dirty="0" smtClean="0">
              <a:solidFill>
                <a:srgbClr val="475569"/>
              </a:solidFill>
              <a:latin typeface="Inter"/>
            </a:endParaRPr>
          </a:p>
          <a:p>
            <a:pPr marL="285750" indent="-285750" algn="l">
              <a:lnSpc>
                <a:spcPts val="1976"/>
              </a:lnSpc>
              <a:buFont typeface="Arial" charset="0"/>
              <a:buChar char="•"/>
            </a:pPr>
            <a:r>
              <a:rPr sz="1275" b="0" i="0" u="none" dirty="0" smtClean="0">
                <a:solidFill>
                  <a:srgbClr val="475569"/>
                </a:solidFill>
                <a:latin typeface="Inter"/>
              </a:rPr>
              <a:t>Allows 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unmodified guest operating systems to execute directly at hardware speed with isolation.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362" y="2715964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7949" y="2715964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2911" y="2715964"/>
            <a:ext cx="2762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Three Virtualization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0002"/>
            <a:ext cx="5334000" cy="28676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00002"/>
            <a:ext cx="5334000" cy="2867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52427"/>
            <a:ext cx="486060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563EB"/>
                </a:solidFill>
                <a:latin typeface="Poppins SemiBold"/>
              </a:rPr>
              <a:t>Software Emulation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81052"/>
            <a:ext cx="46291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Uses byte-code compilers and interpreters (like the Java Virtual Machine) to run software across heterogeneous CPUs.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048125"/>
            <a:ext cx="46291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Major Drawback: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Severe performance penalty from software translation makes it ineligible as a primary virtualization form in cloud data centers.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752427"/>
            <a:ext cx="486060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563EB"/>
                </a:solidFill>
                <a:latin typeface="Poppins SemiBold"/>
              </a:rPr>
              <a:t>Para-Virtualization Trade-offs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181052"/>
            <a:ext cx="46291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Pioneered in the 1960s, a hypervisor moves processors among multiple guest OS instances directly on hardware.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797200"/>
            <a:ext cx="46291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Major Drawback: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Requires altering guest operating system source code to replace I/O and privileged calls with hypervisor traps.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Emulation vs Para-Virtualization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91162" y="2412950"/>
            <a:ext cx="1209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50506" y="2784425"/>
            <a:ext cx="7890986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0F172A"/>
                </a:solidFill>
                <a:latin typeface="Poppins"/>
              </a:rPr>
              <a:t>Full Virtualization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851225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28962" y="4079825"/>
            <a:ext cx="593407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Key properties and system organization of production cloud virtual machines.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252364"/>
            <a:ext cx="11049000" cy="901898"/>
          </a:xfrm>
          <a:prstGeom prst="roundRect">
            <a:avLst>
              <a:gd name="adj" fmla="val 105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1100" y="2442864"/>
            <a:ext cx="10210800" cy="520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Commercial Instruction Set Emulation: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To the guest tenant, a VM is identical to physical hardware. Standard operating systems like Linux and Windows boot unaltered.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306663"/>
            <a:ext cx="11049000" cy="901898"/>
          </a:xfrm>
          <a:prstGeom prst="roundRect">
            <a:avLst>
              <a:gd name="adj" fmla="val 105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1100" y="3497163"/>
            <a:ext cx="10210800" cy="520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Isolated Facilities &amp; Operation: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Complete independence between VMs on the same server. Each guest OS acts as if it has exclusive control of memory, devices, and CPU 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4360961"/>
            <a:ext cx="11049000" cy="901898"/>
          </a:xfrm>
          <a:prstGeom prst="roundRect">
            <a:avLst>
              <a:gd name="adj" fmla="val 105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1100" y="4551461"/>
            <a:ext cx="10210800" cy="520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Efficient Low-Overhead Execution: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Almost all non-privileged instructions execute directly on physical CPUs at full native hardware speed.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144738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199036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525333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485727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540025"/>
            <a:ext cx="209550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594324"/>
            <a:ext cx="209550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Key Properties of Full Virtualization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8568" y="787901"/>
            <a:ext cx="95060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" charset="0"/>
              </a:rPr>
              <a:t>The question arises, how can an application running in a VM operate at hardware</a:t>
            </a:r>
          </a:p>
          <a:p>
            <a:r>
              <a:rPr lang="en-US" dirty="0">
                <a:solidFill>
                  <a:srgbClr val="000000"/>
                </a:solidFill>
                <a:latin typeface="Helvetica" charset="0"/>
              </a:rPr>
              <a:t>speed? </a:t>
            </a:r>
            <a:endParaRPr lang="en-US" dirty="0">
              <a:solidFill>
                <a:srgbClr val="000000"/>
              </a:solidFill>
              <a:effectLst/>
              <a:latin typeface="Helvetic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0" y="2044700"/>
            <a:ext cx="83185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54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91162" y="2412950"/>
            <a:ext cx="1209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5502" y="2784425"/>
            <a:ext cx="7960995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0F172A"/>
                </a:solidFill>
                <a:latin typeface="Poppins"/>
              </a:rPr>
              <a:t>Processor Privilege &amp;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851225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33750" y="4079825"/>
            <a:ext cx="5524500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How hardware execution modes maintain speed and system protection.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2749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1503"/>
            <a:ext cx="5334000" cy="2247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0837" y="2892028"/>
            <a:ext cx="6953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2563EB"/>
                </a:solidFill>
                <a:latin typeface="Poppi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7450" y="4130278"/>
            <a:ext cx="1562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E293B"/>
                </a:solidFill>
                <a:latin typeface="Inter SemiBold"/>
              </a:rPr>
              <a:t>Hardware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3998" y="1209675"/>
            <a:ext cx="5600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Enforcing Hardware Privilege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3998" y="1855589"/>
            <a:ext cx="53340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 dirty="0">
                <a:solidFill>
                  <a:srgbClr val="475569"/>
                </a:solidFill>
                <a:latin typeface="Inter"/>
              </a:rPr>
              <a:t>Traditional operating systems rely on 2 hardware modes (Kernel Mode &amp; User Mode). Cloud virtualization extends CPU hardware support to 3 distinct privilege levels: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7090" y="2769021"/>
            <a:ext cx="5334000" cy="2643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75" b="1" i="0" u="none" dirty="0">
                <a:solidFill>
                  <a:srgbClr val="475569"/>
                </a:solidFill>
                <a:latin typeface="Inter"/>
              </a:rPr>
              <a:t>1</a:t>
            </a:r>
            <a:r>
              <a:rPr sz="1275" b="1" i="0" u="none" dirty="0">
                <a:solidFill>
                  <a:srgbClr val="475569"/>
                </a:solidFill>
                <a:latin typeface="Times New Roman" charset="0"/>
                <a:ea typeface="Times New Roman" charset="0"/>
                <a:cs typeface="Times New Roman" charset="0"/>
              </a:rPr>
              <a:t>. Hypervisor Mode:</a:t>
            </a:r>
            <a:r>
              <a:rPr sz="1275" b="0" i="0" u="none" dirty="0">
                <a:solidFill>
                  <a:srgbClr val="475569"/>
                </a:solidFill>
                <a:latin typeface="Times New Roman" charset="0"/>
                <a:ea typeface="Times New Roman" charset="0"/>
                <a:cs typeface="Times New Roman" charset="0"/>
              </a:rPr>
              <a:t> Highest privilege; manages host resources and creates </a:t>
            </a:r>
            <a:r>
              <a:rPr sz="1275" b="0" i="0" u="none" dirty="0" smtClean="0">
                <a:solidFill>
                  <a:srgbClr val="475569"/>
                </a:solidFill>
                <a:latin typeface="Times New Roman" charset="0"/>
                <a:ea typeface="Times New Roman" charset="0"/>
                <a:cs typeface="Times New Roman" charset="0"/>
              </a:rPr>
              <a:t>VMs.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1400" dirty="0" smtClean="0">
                <a:latin typeface="Times New Roman" charset="0"/>
                <a:ea typeface="Times New Roman" charset="0"/>
                <a:cs typeface="Times New Roman" charset="0"/>
              </a:rPr>
              <a:t>hypervisor </a:t>
            </a:r>
            <a:r>
              <a:rPr lang="en-US" sz="1400" dirty="0">
                <a:latin typeface="Times New Roman" charset="0"/>
                <a:ea typeface="Times New Roman" charset="0"/>
                <a:cs typeface="Times New Roman" charset="0"/>
              </a:rPr>
              <a:t>can create a VM and allocate memory to the VM. </a:t>
            </a:r>
            <a:endParaRPr lang="en-US" sz="16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marL="285750" indent="-285750">
              <a:buFont typeface="Arial" charset="0"/>
              <a:buChar char="•"/>
            </a:pPr>
            <a:endParaRPr lang="en-US" sz="1275" b="1" dirty="0">
              <a:solidFill>
                <a:srgbClr val="475569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sz="1275" b="1" i="0" u="none" dirty="0" smtClean="0">
                <a:solidFill>
                  <a:srgbClr val="475569"/>
                </a:solidFill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sz="1275" b="1" i="0" u="none" dirty="0">
                <a:solidFill>
                  <a:srgbClr val="475569"/>
                </a:solidFill>
                <a:latin typeface="Times New Roman" charset="0"/>
                <a:ea typeface="Times New Roman" charset="0"/>
                <a:cs typeface="Times New Roman" charset="0"/>
              </a:rPr>
              <a:t>. Kernel Mode:</a:t>
            </a:r>
            <a:r>
              <a:rPr sz="1275" b="0" i="0" u="none" dirty="0">
                <a:solidFill>
                  <a:srgbClr val="475569"/>
                </a:solidFill>
                <a:latin typeface="Times New Roman" charset="0"/>
                <a:ea typeface="Times New Roman" charset="0"/>
                <a:cs typeface="Times New Roman" charset="0"/>
              </a:rPr>
              <a:t> Restricted privilege; guest OS manages its own memory &amp; apps</a:t>
            </a:r>
            <a:r>
              <a:rPr sz="1275" b="0" i="0" u="none" dirty="0" smtClean="0">
                <a:solidFill>
                  <a:srgbClr val="475569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275" b="0" i="0" u="none" dirty="0" smtClean="0">
              <a:solidFill>
                <a:srgbClr val="475569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1400" dirty="0">
                <a:latin typeface="Times New Roman" charset="0"/>
                <a:ea typeface="Times New Roman" charset="0"/>
                <a:cs typeface="Times New Roman" charset="0"/>
              </a:rPr>
              <a:t>The </a:t>
            </a:r>
            <a:r>
              <a:rPr lang="en-US" sz="1400" dirty="0" smtClean="0">
                <a:latin typeface="Times New Roman" charset="0"/>
                <a:ea typeface="Times New Roman" charset="0"/>
                <a:cs typeface="Times New Roman" charset="0"/>
              </a:rPr>
              <a:t>operating system </a:t>
            </a:r>
            <a:r>
              <a:rPr lang="en-US" sz="1400" dirty="0">
                <a:latin typeface="Times New Roman" charset="0"/>
                <a:ea typeface="Times New Roman" charset="0"/>
                <a:cs typeface="Times New Roman" charset="0"/>
              </a:rPr>
              <a:t>is restricted to the memory that has been allocated to its VM. </a:t>
            </a:r>
            <a:endParaRPr lang="en-US" sz="1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1400" dirty="0" smtClean="0">
                <a:latin typeface="Times New Roman" charset="0"/>
                <a:ea typeface="Times New Roman" charset="0"/>
                <a:cs typeface="Times New Roman" charset="0"/>
              </a:rPr>
              <a:t>The operating system </a:t>
            </a:r>
            <a:r>
              <a:rPr lang="en-US" sz="1400" dirty="0">
                <a:latin typeface="Times New Roman" charset="0"/>
                <a:ea typeface="Times New Roman" charset="0"/>
                <a:cs typeface="Times New Roman" charset="0"/>
              </a:rPr>
              <a:t>can run apps in the memory it has been allocated.</a:t>
            </a:r>
          </a:p>
          <a:p>
            <a:r>
              <a:rPr dirty="0">
                <a:latin typeface="Times New Roman" charset="0"/>
                <a:ea typeface="Times New Roman" charset="0"/>
                <a:cs typeface="Times New Roman" charset="0"/>
              </a:rPr>
              <a:t>
</a:t>
            </a:r>
            <a:r>
              <a:rPr sz="1275" b="1" i="0" u="none" dirty="0">
                <a:solidFill>
                  <a:srgbClr val="475569"/>
                </a:solidFill>
                <a:latin typeface="Times New Roman" charset="0"/>
                <a:ea typeface="Times New Roman" charset="0"/>
                <a:cs typeface="Times New Roman" charset="0"/>
              </a:rPr>
              <a:t>3. User Mode:</a:t>
            </a:r>
            <a:r>
              <a:rPr sz="1275" b="0" i="0" u="none" dirty="0">
                <a:solidFill>
                  <a:srgbClr val="475569"/>
                </a:solidFill>
                <a:latin typeface="Times New Roman" charset="0"/>
                <a:ea typeface="Times New Roman" charset="0"/>
                <a:cs typeface="Times New Roman" charset="0"/>
              </a:rPr>
              <a:t> Basic privilege; tenant applications execute natively.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Three Privilege Levels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08" y="1942337"/>
            <a:ext cx="10287000" cy="3784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78568" y="787901"/>
            <a:ext cx="95060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Helvetica" charset="0"/>
              </a:rPr>
              <a:t>Extending to Hypervisor</a:t>
            </a:r>
            <a:endParaRPr lang="en-US" dirty="0">
              <a:solidFill>
                <a:srgbClr val="000000"/>
              </a:solidFill>
              <a:latin typeface="Helvetica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836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7" y="942974"/>
            <a:ext cx="10271531" cy="577773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62412"/>
            <a:ext cx="2541240" cy="12959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09217"/>
            <a:ext cx="2541240" cy="12959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62412"/>
            <a:ext cx="2541240" cy="129599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09217"/>
            <a:ext cx="2541240" cy="12959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1476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243387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oppins SemiBold"/>
              </a:rPr>
              <a:t>1. Hypervisor 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557712"/>
            <a:ext cx="217929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Hypervisor runs first in hypervisor mode to allocate memory and configure host hardware.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490192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oppins SemiBold"/>
              </a:rPr>
              <a:t>2. Guest OS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04517"/>
            <a:ext cx="217929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Hypervisor boots VM Guest OS into Kernel Mode within isolated memory boundaries.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243387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oppins SemiBold"/>
              </a:rPr>
              <a:t>3. App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557712"/>
            <a:ext cx="217929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Guest OS launches app code in User Mode. Application executes at full hardware speed.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490192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oppins SemiBold"/>
              </a:rPr>
              <a:t>4. System Call Trap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04517"/>
            <a:ext cx="217929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App service call triggers hardware trap, switching CPU back to Kernel or Hypervisor mode.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Execution &amp; State Transitions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46870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82790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18709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54629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5464"/>
            <a:ext cx="5334000" cy="26166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25464"/>
            <a:ext cx="5334000" cy="2616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77889"/>
            <a:ext cx="486060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563EB"/>
                </a:solidFill>
                <a:latin typeface="Poppins SemiBold"/>
              </a:rPr>
              <a:t>Hypervisor Trust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06514"/>
            <a:ext cx="46291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Trusted completely. Manages host CPU cores, memory boundaries, and physical hardware interfaces.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922662"/>
            <a:ext cx="46291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Must correctly configure CPU hardware isolation mechanisms so no guest OS can breach its VM container or inspect adjacent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877889"/>
            <a:ext cx="486060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563EB"/>
                </a:solidFill>
                <a:latin typeface="Poppins SemiBold"/>
              </a:rPr>
              <a:t>Guest OS &amp; App Sandboxing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306514"/>
            <a:ext cx="46291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Operating systems and user applications require lower trust levels enforceably restricted by CPU hardware modes.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922662"/>
            <a:ext cx="46291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If an app attempts unauthorized memory access or privileged commands, hardware automatically traps execution back to the governing layer.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Hierarchy of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672</Words>
  <Application>Microsoft Macintosh PowerPoint</Application>
  <PresentationFormat>Widescreen</PresentationFormat>
  <Paragraphs>77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Calibri</vt:lpstr>
      <vt:lpstr>Helvetica</vt:lpstr>
      <vt:lpstr>Inter</vt:lpstr>
      <vt:lpstr>Inter SemiBold</vt:lpstr>
      <vt:lpstr>Poppins</vt:lpstr>
      <vt:lpstr>Poppins SemiBold</vt:lpstr>
      <vt:lpstr>Times New Roman</vt:lpstr>
      <vt:lpstr>Wingdings</vt:lpstr>
      <vt:lpstr>Arial</vt:lpstr>
      <vt:lpstr>Office Theme</vt:lpstr>
      <vt:lpstr>PowerPoint Presentation</vt:lpstr>
      <vt:lpstr>IT457 Cloud Computing </vt:lpstr>
      <vt:lpstr>Virtual Machine </vt:lpstr>
      <vt:lpstr>Hypervisor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5</cp:revision>
  <dcterms:created xsi:type="dcterms:W3CDTF">2013-01-27T09:14:16Z</dcterms:created>
  <dcterms:modified xsi:type="dcterms:W3CDTF">2026-08-25T05:25:21Z</dcterms:modified>
  <cp:category/>
</cp:coreProperties>
</file>