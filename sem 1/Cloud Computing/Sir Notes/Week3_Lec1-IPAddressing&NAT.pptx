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RaDcHVjGgHf9Uly1KhooEVzuy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42AFE7-56E8-4151-931B-465EAAADE7D5}">
  <a:tblStyle styleId="{9D42AFE7-56E8-4151-931B-465EAAADE7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982223f3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9982223f3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9982223f3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982223f3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9982223f3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9982223f3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982223f3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9982223f3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9982223f3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9982223f3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f9982223f3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9982223f3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9982223f3_1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9982223f3_1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9982223f3_1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6c8cc9a9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6c8cc9a9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6c8cc9a9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IT457</a:t>
            </a:r>
            <a:br>
              <a:rPr lang="en-US"/>
            </a:br>
            <a:r>
              <a:rPr lang="en-US"/>
              <a:t>Cloud Computing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Week3_Lec1-IP Addressing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72790" y="1409001"/>
            <a:ext cx="5557988" cy="4841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lang="en-US" sz="3200">
                <a:solidFill>
                  <a:srgbClr val="C00000"/>
                </a:solidFill>
              </a:rPr>
              <a:t>IP address: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32-bit identifier associated with each host or router </a:t>
            </a:r>
            <a:r>
              <a:rPr i="1" lang="en-US">
                <a:solidFill>
                  <a:srgbClr val="0000A3"/>
                </a:solidFill>
              </a:rPr>
              <a:t>interface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3200"/>
              <a:buChar char="•"/>
            </a:pPr>
            <a:r>
              <a:rPr lang="en-US" sz="3200">
                <a:solidFill>
                  <a:srgbClr val="CC0000"/>
                </a:solidFill>
              </a:rPr>
              <a:t>interface:</a:t>
            </a:r>
            <a:r>
              <a:rPr lang="en-US"/>
              <a:t> connection between host/router and physical link</a:t>
            </a:r>
            <a:endParaRPr/>
          </a:p>
          <a:p>
            <a:pPr indent="-298450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router’s typically have multiple interfaces</a:t>
            </a:r>
            <a:endParaRPr/>
          </a:p>
          <a:p>
            <a:pPr indent="-298450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host typically has one or two interfaces </a:t>
            </a:r>
            <a:r>
              <a:rPr lang="en-US"/>
              <a:t>(e.g., wired Ethernet, wireless 802.11)</a:t>
            </a:r>
            <a:endParaRPr/>
          </a:p>
          <a:p>
            <a:pPr indent="0" lvl="0" marL="2984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IP addressing: introduction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102" name="Google Shape;102;p2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9" name="Google Shape;109;p2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2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113" name="Google Shape;113;p2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223.1.1.1 = 11011111 00000001 00000001 00000001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905750" y="5447623"/>
              <a:ext cx="892175" cy="92075"/>
            </a:xfrm>
            <a:custGeom>
              <a:rect b="b" l="l" r="r" t="t"/>
              <a:pathLst>
                <a:path extrusionOk="0" h="58" w="562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867775" y="5466673"/>
              <a:ext cx="892175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832975" y="5469848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798175" y="5473023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126" name="Google Shape;12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129" name="Google Shape;12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132" name="Google Shape;13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135" name="Google Shape;13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138" name="Google Shape;13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141" name="Google Shape;14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2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144" name="Google Shape;14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6" name="Google Shape;146;p2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2"/>
          <p:cNvCxnSpPr/>
          <p:nvPr/>
        </p:nvCxnSpPr>
        <p:spPr>
          <a:xfrm>
            <a:off x="7706916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2"/>
          <p:cNvCxnSpPr/>
          <p:nvPr/>
        </p:nvCxnSpPr>
        <p:spPr>
          <a:xfrm>
            <a:off x="7734301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2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2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1" name="Google Shape;151;p2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52" name="Google Shape;152;p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4" name="Google Shape;154;p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5" name="Google Shape;155;p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9" name="Google Shape;159;p2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2"/>
          <p:cNvCxnSpPr/>
          <p:nvPr/>
        </p:nvCxnSpPr>
        <p:spPr>
          <a:xfrm>
            <a:off x="10631261" y="3225575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2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2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"/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dotted-decimal IP address notation:</a:t>
            </a:r>
            <a:endParaRPr/>
          </a:p>
        </p:txBody>
      </p:sp>
      <p:sp>
        <p:nvSpPr>
          <p:cNvPr id="164" name="Google Shape;164;p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IP addresses: how to get one?</a:t>
            </a:r>
            <a:endParaRPr sz="3600"/>
          </a:p>
        </p:txBody>
      </p:sp>
      <p:sp>
        <p:nvSpPr>
          <p:cNvPr id="171" name="Google Shape;171;p3"/>
          <p:cNvSpPr txBox="1"/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That’s actually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questions:</a:t>
            </a:r>
            <a:endParaRPr/>
          </a:p>
          <a:p>
            <a:pPr indent="-346075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How does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 within its network (host part of address)?</a:t>
            </a:r>
            <a:endParaRPr/>
          </a:p>
          <a:p>
            <a:pPr indent="-346075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How does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 for itself (network part of address)</a:t>
            </a:r>
            <a:endParaRPr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1104900" y="4234164"/>
            <a:ext cx="105330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hard-coded by sysadmin in config file (e.g., /etc/rc.config in UNIX)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ost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onfiguration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rotocol: dynamically get address from as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“plug-and-play”</a:t>
            </a:r>
            <a:endParaRPr/>
          </a:p>
        </p:txBody>
      </p:sp>
      <p:sp>
        <p:nvSpPr>
          <p:cNvPr id="173" name="Google Shape;173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Network Layer: 4-</a:t>
            </a: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9" name="Google Shape;17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725" y="1825625"/>
            <a:ext cx="768054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Hierarchical Addressing</a:t>
            </a:r>
            <a:endParaRPr/>
          </a:p>
        </p:txBody>
      </p:sp>
      <p:sp>
        <p:nvSpPr>
          <p:cNvPr id="185" name="Google Shape;185;p5"/>
          <p:cNvSpPr txBox="1"/>
          <p:nvPr>
            <p:ph idx="1" type="body"/>
          </p:nvPr>
        </p:nvSpPr>
        <p:spPr>
          <a:xfrm>
            <a:off x="518711" y="1539186"/>
            <a:ext cx="50117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Addressing in the Indian mail sys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Zip code: 382007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Street: Indroda circle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Building on street: DAIICT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Room in building: 21**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Name of occupant: ABC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Forwarding the mail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Deliver letter to the post office in the zip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Assign letter to mailman covering the street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Drop letter into mailbox for the building/room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9C9C9"/>
              </a:buClr>
              <a:buSzPct val="100000"/>
              <a:buChar char="•"/>
            </a:pPr>
            <a:r>
              <a:rPr lang="en-US">
                <a:solidFill>
                  <a:srgbClr val="C9C9C9"/>
                </a:solidFill>
              </a:rPr>
              <a:t>Give letter to the appropriate person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849958" y="1539186"/>
            <a:ext cx="58233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Divided into network &amp; host portions (left and right)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12.34.158.0/24 is a 24-bit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prefix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with 2</a:t>
            </a:r>
            <a:r>
              <a:rPr b="0" baseline="3000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addresses</a:t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178" y="2672394"/>
            <a:ext cx="5031954" cy="223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IP Address and a 24-bit Subnet Mask</a:t>
            </a:r>
            <a:endParaRPr/>
          </a:p>
        </p:txBody>
      </p:sp>
      <p:pic>
        <p:nvPicPr>
          <p:cNvPr id="193" name="Google Shape;19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262" y="1690688"/>
            <a:ext cx="676497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Classful Addressing </a:t>
            </a:r>
            <a:endParaRPr/>
          </a:p>
        </p:txBody>
      </p:sp>
      <p:sp>
        <p:nvSpPr>
          <p:cNvPr id="199" name="Google Shape;19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In the olden days, only fixed allocation sizes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Class A: 0*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Very large </a:t>
            </a:r>
            <a:r>
              <a:rPr lang="en-US" sz="2400">
                <a:solidFill>
                  <a:srgbClr val="FF3300"/>
                </a:solidFill>
              </a:rPr>
              <a:t>/8</a:t>
            </a:r>
            <a:r>
              <a:rPr lang="en-US" sz="2400"/>
              <a:t> blocks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Class B: 10*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Large </a:t>
            </a:r>
            <a:r>
              <a:rPr lang="en-US" sz="2400">
                <a:solidFill>
                  <a:srgbClr val="FF3300"/>
                </a:solidFill>
              </a:rPr>
              <a:t>/16</a:t>
            </a:r>
            <a:r>
              <a:rPr lang="en-US" sz="2400"/>
              <a:t> blocks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Class C: 110*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Small </a:t>
            </a:r>
            <a:r>
              <a:rPr lang="en-US" sz="2400">
                <a:solidFill>
                  <a:srgbClr val="FF3300"/>
                </a:solidFill>
              </a:rPr>
              <a:t>/24</a:t>
            </a:r>
            <a:r>
              <a:rPr lang="en-US" sz="2400"/>
              <a:t> blocks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sz="2800">
                <a:solidFill>
                  <a:schemeClr val="lt2"/>
                </a:solidFill>
              </a:rPr>
              <a:t>Class D: 1110*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 sz="2400">
                <a:solidFill>
                  <a:schemeClr val="lt2"/>
                </a:solidFill>
              </a:rPr>
              <a:t>Multicast groups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sz="2800">
                <a:solidFill>
                  <a:schemeClr val="lt2"/>
                </a:solidFill>
              </a:rPr>
              <a:t>Class E: 11110*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 sz="2400">
                <a:solidFill>
                  <a:schemeClr val="lt2"/>
                </a:solidFill>
              </a:rPr>
              <a:t>Reserved for future use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0" name="Google Shape;200;p7" title="Screenshot 2026-08-10 at 3.23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125" y="2587175"/>
            <a:ext cx="72961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Subnets</a:t>
            </a:r>
            <a:endParaRPr sz="4000"/>
          </a:p>
        </p:txBody>
      </p:sp>
      <p:sp>
        <p:nvSpPr>
          <p:cNvPr id="207" name="Google Shape;207;p8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7291388" y="1132798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11" name="Google Shape;211;p8"/>
          <p:cNvGrpSpPr/>
          <p:nvPr/>
        </p:nvGrpSpPr>
        <p:grpSpPr>
          <a:xfrm>
            <a:off x="6557963" y="2093238"/>
            <a:ext cx="920750" cy="261938"/>
            <a:chOff x="3251" y="608"/>
            <a:chExt cx="580" cy="165"/>
          </a:xfrm>
        </p:grpSpPr>
        <p:sp>
          <p:nvSpPr>
            <p:cNvPr id="212" name="Google Shape;212;p8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 txBox="1"/>
            <p:nvPr/>
          </p:nvSpPr>
          <p:spPr>
            <a:xfrm>
              <a:off x="3251" y="608"/>
              <a:ext cx="486" cy="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214" name="Google Shape;214;p8"/>
          <p:cNvSpPr txBox="1"/>
          <p:nvPr/>
        </p:nvSpPr>
        <p:spPr>
          <a:xfrm>
            <a:off x="7396163" y="3088598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8365672" y="2275798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9578749" y="2277157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10148207" y="3220134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10107612" y="1703391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8"/>
          <p:cNvSpPr txBox="1"/>
          <p:nvPr/>
        </p:nvSpPr>
        <p:spPr>
          <a:xfrm>
            <a:off x="9955213" y="4195086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8712200" y="4199848"/>
            <a:ext cx="7713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1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22" name="Google Shape;222;p8"/>
          <p:cNvGrpSpPr/>
          <p:nvPr/>
        </p:nvGrpSpPr>
        <p:grpSpPr>
          <a:xfrm>
            <a:off x="8885238" y="2996527"/>
            <a:ext cx="906462" cy="261938"/>
            <a:chOff x="4550" y="1257"/>
            <a:chExt cx="571" cy="165"/>
          </a:xfrm>
        </p:grpSpPr>
        <p:sp>
          <p:nvSpPr>
            <p:cNvPr id="223" name="Google Shape;223;p8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4550" y="1257"/>
              <a:ext cx="535" cy="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25" name="Google Shape;225;p8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226" name="Google Shape;22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8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229" name="Google Shape;22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232" name="Google Shape;23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235" name="Google Shape;23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38" name="Google Shape;23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41" name="Google Shape;24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8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244" name="Google Shape;24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6" name="Google Shape;246;p8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8"/>
          <p:cNvCxnSpPr/>
          <p:nvPr/>
        </p:nvCxnSpPr>
        <p:spPr>
          <a:xfrm>
            <a:off x="7698824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8"/>
          <p:cNvCxnSpPr/>
          <p:nvPr/>
        </p:nvCxnSpPr>
        <p:spPr>
          <a:xfrm>
            <a:off x="7705979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" name="Google Shape;249;p8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/>
          <p:nvPr/>
        </p:nvCxnSpPr>
        <p:spPr>
          <a:xfrm>
            <a:off x="10631261" y="3221529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1" name="Google Shape;251;p8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8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8"/>
          <p:cNvSpPr txBox="1"/>
          <p:nvPr/>
        </p:nvSpPr>
        <p:spPr>
          <a:xfrm>
            <a:off x="910964" y="1504586"/>
            <a:ext cx="5504825" cy="221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34950" lvl="0" marL="234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What’s a subnet ?</a:t>
            </a:r>
            <a:endParaRPr/>
          </a:p>
          <a:p>
            <a:pPr indent="-234950" lvl="1" marL="5778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interfaces that can physically reach each other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without passing through an intervening router</a:t>
            </a:r>
            <a:endParaRPr/>
          </a:p>
          <a:p>
            <a:pPr indent="-234950" lvl="1" marL="5778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detach each interface from its host or router, creating “islands” of isolated network</a:t>
            </a:r>
            <a:endParaRPr/>
          </a:p>
          <a:p>
            <a:pPr indent="-234950" lvl="1" marL="5778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isolated network is called a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/>
          </a:p>
          <a:p>
            <a:pPr indent="-103823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3823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8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5" name="Google Shape;255;p8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6" name="Google Shape;256;p8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257" name="Google Shape;25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9" name="Google Shape;25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" name="Google Shape;26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4" name="Google Shape;264;p8"/>
          <p:cNvSpPr txBox="1"/>
          <p:nvPr/>
        </p:nvSpPr>
        <p:spPr>
          <a:xfrm>
            <a:off x="7810084" y="5139102"/>
            <a:ext cx="3403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consisting of 3 subnets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923879" y="3718261"/>
            <a:ext cx="6050358" cy="2667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34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IP addresses have structure: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subnet part: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 in same subnet have common high order bits</a:t>
            </a:r>
            <a:endParaRPr/>
          </a:p>
          <a:p>
            <a:pPr indent="-233363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host part: remaining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low order bits </a:t>
            </a:r>
            <a:endParaRPr/>
          </a:p>
          <a:p>
            <a:pPr indent="-80963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Network Layer: 4-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982223f3_1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 addresses and their usage in Cloud</a:t>
            </a:r>
            <a:endParaRPr/>
          </a:p>
        </p:txBody>
      </p:sp>
      <p:graphicFrame>
        <p:nvGraphicFramePr>
          <p:cNvPr id="273" name="Google Shape;273;g3f9982223f3_1_10"/>
          <p:cNvGraphicFramePr/>
          <p:nvPr/>
        </p:nvGraphicFramePr>
        <p:xfrm>
          <a:off x="790200" y="259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{9D42AFE7-56E8-4151-931B-465EAAADE7D5}</a:tableStyleId>
              </a:tblPr>
              <a:tblGrid>
                <a:gridCol w="2933700"/>
                <a:gridCol w="1409700"/>
                <a:gridCol w="1743075"/>
                <a:gridCol w="1800225"/>
                <a:gridCol w="2571750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Class Block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Subnet Mask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CIDR Block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Usable IPs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Cloud Context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8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10.0.0.0 – 10.255.255.255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255.0.0.0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10.0.0.0/8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~16.7 Million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Standard choice for enterprise-wide multi-region VPC/VNet address spaces.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172.16.0.0 – 172.31.255.255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255.240.0.0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172.16.0.0/12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~1 Million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Popular default range for Docker, Kubernetes, and regional VPC networks.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192.168.0.0 – 192.168.255.255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255.255.0.0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192.168.0.0/16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~65,536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Small branch networks or individual subnets.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982223f3_1_18"/>
          <p:cNvSpPr txBox="1"/>
          <p:nvPr/>
        </p:nvSpPr>
        <p:spPr>
          <a:xfrm>
            <a:off x="475014" y="1411941"/>
            <a:ext cx="10603800" cy="52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5113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devices in local network have 32-bit addresses in a “private” IP address space (10/8, 172.16/12, 192.168/16 prefixes) that can only be used in local network</a:t>
            </a:r>
            <a:endParaRPr sz="1000"/>
          </a:p>
          <a:p>
            <a:pPr indent="-2651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 sz="1000"/>
          </a:p>
          <a:p>
            <a:pPr indent="-2651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IP address needed from provider ISP for </a:t>
            </a: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devices</a:t>
            </a:r>
            <a:endParaRPr sz="1000"/>
          </a:p>
          <a:p>
            <a:pPr indent="-2651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change addresses of host in local network without notifying outside world</a:t>
            </a:r>
            <a:endParaRPr sz="1000"/>
          </a:p>
          <a:p>
            <a:pPr indent="-2651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change ISP without changing addresses of devices in local network</a:t>
            </a:r>
            <a:endParaRPr sz="1000"/>
          </a:p>
          <a:p>
            <a:pPr indent="-2651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security: devices inside local net not directly addressable, visible by outside world</a:t>
            </a:r>
            <a:endParaRPr sz="1000"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9982223f3_1_18"/>
          <p:cNvSpPr txBox="1"/>
          <p:nvPr>
            <p:ph type="title"/>
          </p:nvPr>
        </p:nvSpPr>
        <p:spPr>
          <a:xfrm>
            <a:off x="703288" y="281163"/>
            <a:ext cx="10515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NAT: network address translation</a:t>
            </a:r>
            <a:endParaRPr sz="4000"/>
          </a:p>
        </p:txBody>
      </p:sp>
      <p:sp>
        <p:nvSpPr>
          <p:cNvPr id="281" name="Google Shape;281;g3f9982223f3_1_18"/>
          <p:cNvSpPr txBox="1"/>
          <p:nvPr>
            <p:ph idx="4294967295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Network Layer: 4-</a:t>
            </a:r>
            <a:fld id="{00000000-1234-1234-1234-123412341234}" type="slidenum">
              <a:rPr lang="en-US" sz="800"/>
              <a:t>‹#›</a:t>
            </a:fld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9982223f3_1_25"/>
          <p:cNvSpPr txBox="1"/>
          <p:nvPr/>
        </p:nvSpPr>
        <p:spPr>
          <a:xfrm>
            <a:off x="604425" y="1435933"/>
            <a:ext cx="11097300" cy="5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implementation: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NAT router must (transparently):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1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outgoing datagrams: replace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(source IP address, port #) of every outgoing datagram to (NAT IP address, new port #)</a:t>
            </a:r>
            <a:endParaRPr sz="1000"/>
          </a:p>
          <a:p>
            <a:pPr indent="-261938" lvl="3" marL="1150938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clients/servers will respond using (NAT IP address, new port #) as destination address</a:t>
            </a:r>
            <a:endParaRPr sz="1000"/>
          </a:p>
          <a:p>
            <a:pPr indent="-2651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remember (in NAT translation table)</a:t>
            </a:r>
            <a:r>
              <a:rPr b="0" i="0" lang="en-US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(source IP address, port #)  to (NAT IP address, new port #) translation pair</a:t>
            </a:r>
            <a:endParaRPr sz="1000"/>
          </a:p>
          <a:p>
            <a:pPr indent="-2651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incoming datagrams: replace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(NAT IP address, new port #) in destination fields of every incoming datagram with corresponding (source IP address, port #) stored in NAT table</a:t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9982223f3_1_25"/>
          <p:cNvSpPr txBox="1"/>
          <p:nvPr>
            <p:ph type="title"/>
          </p:nvPr>
        </p:nvSpPr>
        <p:spPr>
          <a:xfrm>
            <a:off x="703288" y="281163"/>
            <a:ext cx="10515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NAT: network address translation</a:t>
            </a:r>
            <a:endParaRPr sz="4000"/>
          </a:p>
        </p:txBody>
      </p:sp>
      <p:sp>
        <p:nvSpPr>
          <p:cNvPr id="289" name="Google Shape;289;g3f9982223f3_1_25"/>
          <p:cNvSpPr txBox="1"/>
          <p:nvPr>
            <p:ph idx="4294967295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Network Layer: 4-</a:t>
            </a:r>
            <a:fld id="{00000000-1234-1234-1234-123412341234}" type="slidenum">
              <a:rPr lang="en-US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9982223f3_1_32"/>
          <p:cNvSpPr txBox="1"/>
          <p:nvPr>
            <p:ph type="title"/>
          </p:nvPr>
        </p:nvSpPr>
        <p:spPr>
          <a:xfrm>
            <a:off x="703288" y="281163"/>
            <a:ext cx="10515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  <p:sp>
        <p:nvSpPr>
          <p:cNvPr id="296" name="Google Shape;296;g3f9982223f3_1_32"/>
          <p:cNvSpPr/>
          <p:nvPr/>
        </p:nvSpPr>
        <p:spPr>
          <a:xfrm>
            <a:off x="2061197" y="3850033"/>
            <a:ext cx="4089402" cy="1355725"/>
          </a:xfrm>
          <a:custGeom>
            <a:rect b="b" l="l" r="r" t="t"/>
            <a:pathLst>
              <a:path extrusionOk="0" h="854" w="2269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8039"/>
                </a:srgbClr>
              </a:gs>
              <a:gs pos="100000">
                <a:srgbClr val="66CC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982223f3_1_32"/>
          <p:cNvSpPr/>
          <p:nvPr/>
        </p:nvSpPr>
        <p:spPr>
          <a:xfrm>
            <a:off x="6350622" y="3121371"/>
            <a:ext cx="3738563" cy="2697163"/>
          </a:xfrm>
          <a:custGeom>
            <a:rect b="b" l="l" r="r" t="t"/>
            <a:pathLst>
              <a:path extrusionOk="0" h="1699" w="2355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g3f9982223f3_1_32"/>
          <p:cNvGrpSpPr/>
          <p:nvPr/>
        </p:nvGrpSpPr>
        <p:grpSpPr>
          <a:xfrm>
            <a:off x="7512814" y="3054696"/>
            <a:ext cx="2033867" cy="1065212"/>
            <a:chOff x="3550" y="2055"/>
            <a:chExt cx="1281" cy="671"/>
          </a:xfrm>
        </p:grpSpPr>
        <p:grpSp>
          <p:nvGrpSpPr>
            <p:cNvPr id="299" name="Google Shape;299;g3f9982223f3_1_32"/>
            <p:cNvGrpSpPr/>
            <p:nvPr/>
          </p:nvGrpSpPr>
          <p:grpSpPr>
            <a:xfrm>
              <a:off x="3550" y="2055"/>
              <a:ext cx="1281" cy="357"/>
              <a:chOff x="4381" y="786"/>
              <a:chExt cx="1204" cy="357"/>
            </a:xfrm>
          </p:grpSpPr>
          <p:sp>
            <p:nvSpPr>
              <p:cNvPr id="300" name="Google Shape;300;g3f9982223f3_1_32"/>
              <p:cNvSpPr/>
              <p:nvPr/>
            </p:nvSpPr>
            <p:spPr>
              <a:xfrm>
                <a:off x="4385" y="830"/>
                <a:ext cx="12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g3f9982223f3_1_32"/>
              <p:cNvSpPr txBox="1"/>
              <p:nvPr/>
            </p:nvSpPr>
            <p:spPr>
              <a:xfrm>
                <a:off x="4381" y="81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S: 10.0.0.1, 3345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D: 128.119.40.186, 80</a:t>
                </a:r>
                <a:endParaRPr/>
              </a:p>
            </p:txBody>
          </p:sp>
          <p:grpSp>
            <p:nvGrpSpPr>
              <p:cNvPr id="302" name="Google Shape;302;g3f9982223f3_1_32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303" name="Google Shape;303;g3f9982223f3_1_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4" name="Google Shape;304;g3f9982223f3_1_32"/>
                <p:cNvCxnSpPr/>
                <p:nvPr/>
              </p:nvCxnSpPr>
              <p:spPr>
                <a:xfrm>
                  <a:off x="5534" y="160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g3f9982223f3_1_32"/>
                <p:cNvCxnSpPr/>
                <p:nvPr/>
              </p:nvCxnSpPr>
              <p:spPr>
                <a:xfrm>
                  <a:off x="5556" y="162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6" name="Google Shape;306;g3f9982223f3_1_32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307" name="Google Shape;307;g3f9982223f3_1_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8" name="Google Shape;308;g3f9982223f3_1_32"/>
                <p:cNvCxnSpPr/>
                <p:nvPr/>
              </p:nvCxnSpPr>
              <p:spPr>
                <a:xfrm>
                  <a:off x="5534" y="160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9" name="Google Shape;309;g3f9982223f3_1_32"/>
                <p:cNvCxnSpPr/>
                <p:nvPr/>
              </p:nvCxnSpPr>
              <p:spPr>
                <a:xfrm>
                  <a:off x="5556" y="162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310" name="Google Shape;310;g3f9982223f3_1_32"/>
            <p:cNvSpPr/>
            <p:nvPr/>
          </p:nvSpPr>
          <p:spPr>
            <a:xfrm>
              <a:off x="3573" y="2364"/>
              <a:ext cx="564" cy="342"/>
            </a:xfrm>
            <a:custGeom>
              <a:rect b="b" l="l" r="r" t="t"/>
              <a:pathLst>
                <a:path extrusionOk="0" h="264" w="417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" name="Google Shape;311;g3f9982223f3_1_32"/>
            <p:cNvGrpSpPr/>
            <p:nvPr/>
          </p:nvGrpSpPr>
          <p:grpSpPr>
            <a:xfrm>
              <a:off x="4032" y="2416"/>
              <a:ext cx="314" cy="310"/>
              <a:chOff x="5140" y="400"/>
              <a:chExt cx="314" cy="310"/>
            </a:xfrm>
          </p:grpSpPr>
          <p:sp>
            <p:nvSpPr>
              <p:cNvPr id="312" name="Google Shape;312;g3f9982223f3_1_32"/>
              <p:cNvSpPr/>
              <p:nvPr/>
            </p:nvSpPr>
            <p:spPr>
              <a:xfrm>
                <a:off x="5140" y="410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g3f9982223f3_1_32"/>
              <p:cNvSpPr txBox="1"/>
              <p:nvPr/>
            </p:nvSpPr>
            <p:spPr>
              <a:xfrm>
                <a:off x="5154" y="40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314" name="Google Shape;314;g3f9982223f3_1_32"/>
          <p:cNvSpPr txBox="1"/>
          <p:nvPr/>
        </p:nvSpPr>
        <p:spPr>
          <a:xfrm>
            <a:off x="6542534" y="4036280"/>
            <a:ext cx="8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10.0.0.4</a:t>
            </a:r>
            <a:endParaRPr/>
          </a:p>
        </p:txBody>
      </p:sp>
      <p:sp>
        <p:nvSpPr>
          <p:cNvPr id="315" name="Google Shape;315;g3f9982223f3_1_32"/>
          <p:cNvSpPr txBox="1"/>
          <p:nvPr/>
        </p:nvSpPr>
        <p:spPr>
          <a:xfrm>
            <a:off x="4572494" y="4525035"/>
            <a:ext cx="117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138.76.29.7</a:t>
            </a:r>
            <a:endParaRPr/>
          </a:p>
        </p:txBody>
      </p:sp>
      <p:grpSp>
        <p:nvGrpSpPr>
          <p:cNvPr id="316" name="Google Shape;316;g3f9982223f3_1_32"/>
          <p:cNvGrpSpPr/>
          <p:nvPr/>
        </p:nvGrpSpPr>
        <p:grpSpPr>
          <a:xfrm>
            <a:off x="8187361" y="1768821"/>
            <a:ext cx="3302000" cy="1612899"/>
            <a:chOff x="3841" y="989"/>
            <a:chExt cx="2080" cy="1016"/>
          </a:xfrm>
        </p:grpSpPr>
        <p:sp>
          <p:nvSpPr>
            <p:cNvPr id="317" name="Google Shape;317;g3f9982223f3_1_32"/>
            <p:cNvSpPr txBox="1"/>
            <p:nvPr/>
          </p:nvSpPr>
          <p:spPr>
            <a:xfrm>
              <a:off x="4121" y="989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1: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host 10.0.0.1 sends datagram to 128.119.40.186, 80</a:t>
              </a:r>
              <a:endParaRPr/>
            </a:p>
          </p:txBody>
        </p:sp>
        <p:cxnSp>
          <p:nvCxnSpPr>
            <p:cNvPr id="318" name="Google Shape;318;g3f9982223f3_1_32"/>
            <p:cNvCxnSpPr/>
            <p:nvPr/>
          </p:nvCxnSpPr>
          <p:spPr>
            <a:xfrm flipH="1">
              <a:off x="3841" y="1105"/>
              <a:ext cx="300" cy="9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9" name="Google Shape;319;g3f9982223f3_1_32"/>
          <p:cNvSpPr/>
          <p:nvPr/>
        </p:nvSpPr>
        <p:spPr>
          <a:xfrm>
            <a:off x="4226547" y="2826096"/>
            <a:ext cx="3862388" cy="1531938"/>
          </a:xfrm>
          <a:custGeom>
            <a:rect b="b" l="l" r="r" t="t"/>
            <a:pathLst>
              <a:path extrusionOk="0" h="965" w="2433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9982223f3_1_32"/>
          <p:cNvSpPr/>
          <p:nvPr/>
        </p:nvSpPr>
        <p:spPr>
          <a:xfrm>
            <a:off x="4226547" y="1573558"/>
            <a:ext cx="3784500" cy="135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9982223f3_1_32"/>
          <p:cNvSpPr txBox="1"/>
          <p:nvPr/>
        </p:nvSpPr>
        <p:spPr>
          <a:xfrm>
            <a:off x="4280166" y="1578252"/>
            <a:ext cx="3651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 translation table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 side addr        LAN side addr</a:t>
            </a:r>
            <a:endParaRPr/>
          </a:p>
        </p:txBody>
      </p:sp>
      <p:cxnSp>
        <p:nvCxnSpPr>
          <p:cNvPr id="322" name="Google Shape;322;g3f9982223f3_1_32"/>
          <p:cNvCxnSpPr/>
          <p:nvPr/>
        </p:nvCxnSpPr>
        <p:spPr>
          <a:xfrm flipH="1" rot="10800000">
            <a:off x="4226547" y="1946633"/>
            <a:ext cx="3791100" cy="11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g3f9982223f3_1_32"/>
          <p:cNvCxnSpPr/>
          <p:nvPr/>
        </p:nvCxnSpPr>
        <p:spPr>
          <a:xfrm flipH="1" rot="10800000">
            <a:off x="4240834" y="2224446"/>
            <a:ext cx="3749700" cy="11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g3f9982223f3_1_32"/>
          <p:cNvCxnSpPr/>
          <p:nvPr/>
        </p:nvCxnSpPr>
        <p:spPr>
          <a:xfrm>
            <a:off x="6350622" y="1968846"/>
            <a:ext cx="3300" cy="95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g3f9982223f3_1_32"/>
          <p:cNvSpPr txBox="1"/>
          <p:nvPr/>
        </p:nvSpPr>
        <p:spPr>
          <a:xfrm>
            <a:off x="4450607" y="2243483"/>
            <a:ext cx="336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138.76.29.7, 5001   10.0.0.1, 3345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                                         ……</a:t>
            </a:r>
            <a:endParaRPr/>
          </a:p>
        </p:txBody>
      </p:sp>
      <p:grpSp>
        <p:nvGrpSpPr>
          <p:cNvPr id="326" name="Google Shape;326;g3f9982223f3_1_32"/>
          <p:cNvGrpSpPr/>
          <p:nvPr/>
        </p:nvGrpSpPr>
        <p:grpSpPr>
          <a:xfrm>
            <a:off x="6647484" y="3634133"/>
            <a:ext cx="2784475" cy="1514475"/>
            <a:chOff x="3002" y="2417"/>
            <a:chExt cx="1754" cy="954"/>
          </a:xfrm>
        </p:grpSpPr>
        <p:sp>
          <p:nvSpPr>
            <p:cNvPr id="327" name="Google Shape;327;g3f9982223f3_1_32"/>
            <p:cNvSpPr/>
            <p:nvPr/>
          </p:nvSpPr>
          <p:spPr>
            <a:xfrm>
              <a:off x="3002" y="3051"/>
              <a:ext cx="12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g3f9982223f3_1_32"/>
            <p:cNvSpPr txBox="1"/>
            <p:nvPr/>
          </p:nvSpPr>
          <p:spPr>
            <a:xfrm>
              <a:off x="3104" y="3042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S: 128.119.40.186, 80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D: 10.0.0.1, 3345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9" name="Google Shape;329;g3f9982223f3_1_32"/>
            <p:cNvGrpSpPr/>
            <p:nvPr/>
          </p:nvGrpSpPr>
          <p:grpSpPr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330" name="Google Shape;330;g3f9982223f3_1_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1" name="Google Shape;331;g3f9982223f3_1_32"/>
              <p:cNvCxnSpPr/>
              <p:nvPr/>
            </p:nvCxnSpPr>
            <p:spPr>
              <a:xfrm>
                <a:off x="5534" y="160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g3f9982223f3_1_32"/>
              <p:cNvCxnSpPr/>
              <p:nvPr/>
            </p:nvCxnSpPr>
            <p:spPr>
              <a:xfrm>
                <a:off x="5556" y="1620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3" name="Google Shape;333;g3f9982223f3_1_32"/>
            <p:cNvGrpSpPr/>
            <p:nvPr/>
          </p:nvGrpSpPr>
          <p:grpSpPr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334" name="Google Shape;334;g3f9982223f3_1_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5" name="Google Shape;335;g3f9982223f3_1_32"/>
              <p:cNvCxnSpPr/>
              <p:nvPr/>
            </p:nvCxnSpPr>
            <p:spPr>
              <a:xfrm>
                <a:off x="5534" y="160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" name="Google Shape;336;g3f9982223f3_1_32"/>
              <p:cNvCxnSpPr/>
              <p:nvPr/>
            </p:nvCxnSpPr>
            <p:spPr>
              <a:xfrm>
                <a:off x="5556" y="1620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7" name="Google Shape;337;g3f9982223f3_1_32"/>
            <p:cNvSpPr/>
            <p:nvPr/>
          </p:nvSpPr>
          <p:spPr>
            <a:xfrm>
              <a:off x="4179" y="2417"/>
              <a:ext cx="577" cy="768"/>
            </a:xfrm>
            <a:custGeom>
              <a:rect b="b" l="l" r="r" t="t"/>
              <a:pathLst>
                <a:path extrusionOk="0" h="768" w="577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8" name="Google Shape;338;g3f9982223f3_1_32"/>
            <p:cNvGrpSpPr/>
            <p:nvPr/>
          </p:nvGrpSpPr>
          <p:grpSpPr>
            <a:xfrm>
              <a:off x="4240" y="3061"/>
              <a:ext cx="314" cy="310"/>
              <a:chOff x="5140" y="400"/>
              <a:chExt cx="314" cy="310"/>
            </a:xfrm>
          </p:grpSpPr>
          <p:sp>
            <p:nvSpPr>
              <p:cNvPr id="339" name="Google Shape;339;g3f9982223f3_1_32"/>
              <p:cNvSpPr/>
              <p:nvPr/>
            </p:nvSpPr>
            <p:spPr>
              <a:xfrm>
                <a:off x="5140" y="410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g3f9982223f3_1_32"/>
              <p:cNvSpPr txBox="1"/>
              <p:nvPr/>
            </p:nvSpPr>
            <p:spPr>
              <a:xfrm>
                <a:off x="5154" y="40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341" name="Google Shape;341;g3f9982223f3_1_32"/>
          <p:cNvGrpSpPr/>
          <p:nvPr/>
        </p:nvGrpSpPr>
        <p:grpSpPr>
          <a:xfrm>
            <a:off x="3534397" y="3851621"/>
            <a:ext cx="2539758" cy="577849"/>
            <a:chOff x="1102" y="3559"/>
            <a:chExt cx="1600" cy="364"/>
          </a:xfrm>
        </p:grpSpPr>
        <p:grpSp>
          <p:nvGrpSpPr>
            <p:cNvPr id="342" name="Google Shape;342;g3f9982223f3_1_32"/>
            <p:cNvGrpSpPr/>
            <p:nvPr/>
          </p:nvGrpSpPr>
          <p:grpSpPr>
            <a:xfrm>
              <a:off x="1412" y="3559"/>
              <a:ext cx="1290" cy="357"/>
              <a:chOff x="4381" y="786"/>
              <a:chExt cx="1204" cy="357"/>
            </a:xfrm>
          </p:grpSpPr>
          <p:sp>
            <p:nvSpPr>
              <p:cNvPr id="343" name="Google Shape;343;g3f9982223f3_1_32"/>
              <p:cNvSpPr/>
              <p:nvPr/>
            </p:nvSpPr>
            <p:spPr>
              <a:xfrm>
                <a:off x="4385" y="830"/>
                <a:ext cx="12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g3f9982223f3_1_32"/>
              <p:cNvSpPr txBox="1"/>
              <p:nvPr/>
            </p:nvSpPr>
            <p:spPr>
              <a:xfrm>
                <a:off x="4381" y="81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S: 138.76.29.7, 5001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D: 128.119.40.186, 80</a:t>
                </a:r>
                <a:endParaRPr/>
              </a:p>
            </p:txBody>
          </p:sp>
          <p:grpSp>
            <p:nvGrpSpPr>
              <p:cNvPr id="345" name="Google Shape;345;g3f9982223f3_1_32"/>
              <p:cNvGrpSpPr/>
              <p:nvPr/>
            </p:nvGrpSpPr>
            <p:grpSpPr>
              <a:xfrm>
                <a:off x="5394" y="786"/>
                <a:ext cx="49" cy="99"/>
                <a:chOff x="5508" y="1599"/>
                <a:chExt cx="49" cy="99"/>
              </a:xfrm>
            </p:grpSpPr>
            <p:sp>
              <p:nvSpPr>
                <p:cNvPr id="346" name="Google Shape;346;g3f9982223f3_1_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7" name="Google Shape;347;g3f9982223f3_1_32"/>
                <p:cNvCxnSpPr/>
                <p:nvPr/>
              </p:nvCxnSpPr>
              <p:spPr>
                <a:xfrm>
                  <a:off x="5533" y="160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8" name="Google Shape;348;g3f9982223f3_1_32"/>
                <p:cNvCxnSpPr/>
                <p:nvPr/>
              </p:nvCxnSpPr>
              <p:spPr>
                <a:xfrm>
                  <a:off x="5557" y="162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9" name="Google Shape;349;g3f9982223f3_1_32"/>
              <p:cNvGrpSpPr/>
              <p:nvPr/>
            </p:nvGrpSpPr>
            <p:grpSpPr>
              <a:xfrm>
                <a:off x="5382" y="1044"/>
                <a:ext cx="49" cy="99"/>
                <a:chOff x="5508" y="1599"/>
                <a:chExt cx="49" cy="99"/>
              </a:xfrm>
            </p:grpSpPr>
            <p:sp>
              <p:nvSpPr>
                <p:cNvPr id="350" name="Google Shape;350;g3f9982223f3_1_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51" name="Google Shape;351;g3f9982223f3_1_32"/>
                <p:cNvCxnSpPr/>
                <p:nvPr/>
              </p:nvCxnSpPr>
              <p:spPr>
                <a:xfrm>
                  <a:off x="5531" y="160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" name="Google Shape;352;g3f9982223f3_1_32"/>
                <p:cNvCxnSpPr/>
                <p:nvPr/>
              </p:nvCxnSpPr>
              <p:spPr>
                <a:xfrm>
                  <a:off x="5557" y="162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353" name="Google Shape;353;g3f9982223f3_1_32"/>
            <p:cNvCxnSpPr/>
            <p:nvPr/>
          </p:nvCxnSpPr>
          <p:spPr>
            <a:xfrm rot="10800000">
              <a:off x="1102" y="3729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354" name="Google Shape;354;g3f9982223f3_1_32"/>
            <p:cNvGrpSpPr/>
            <p:nvPr/>
          </p:nvGrpSpPr>
          <p:grpSpPr>
            <a:xfrm>
              <a:off x="1143" y="3613"/>
              <a:ext cx="314" cy="310"/>
              <a:chOff x="5140" y="400"/>
              <a:chExt cx="314" cy="310"/>
            </a:xfrm>
          </p:grpSpPr>
          <p:sp>
            <p:nvSpPr>
              <p:cNvPr id="355" name="Google Shape;355;g3f9982223f3_1_32"/>
              <p:cNvSpPr/>
              <p:nvPr/>
            </p:nvSpPr>
            <p:spPr>
              <a:xfrm>
                <a:off x="5140" y="410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g3f9982223f3_1_32"/>
              <p:cNvSpPr txBox="1"/>
              <p:nvPr/>
            </p:nvSpPr>
            <p:spPr>
              <a:xfrm>
                <a:off x="5154" y="40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357" name="Google Shape;357;g3f9982223f3_1_32"/>
          <p:cNvGrpSpPr/>
          <p:nvPr/>
        </p:nvGrpSpPr>
        <p:grpSpPr>
          <a:xfrm>
            <a:off x="570534" y="1870421"/>
            <a:ext cx="6669088" cy="1963737"/>
            <a:chOff x="-826" y="1306"/>
            <a:chExt cx="4201" cy="1237"/>
          </a:xfrm>
        </p:grpSpPr>
        <p:sp>
          <p:nvSpPr>
            <p:cNvPr id="358" name="Google Shape;358;g3f9982223f3_1_32"/>
            <p:cNvSpPr txBox="1"/>
            <p:nvPr/>
          </p:nvSpPr>
          <p:spPr>
            <a:xfrm>
              <a:off x="-826" y="1306"/>
              <a:ext cx="21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2: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NAT router changes datagram source address from 10.0.0.1, 3345 to 138.76.29.7, 5001,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updates table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9" name="Google Shape;359;g3f9982223f3_1_32"/>
            <p:cNvCxnSpPr/>
            <p:nvPr/>
          </p:nvCxnSpPr>
          <p:spPr>
            <a:xfrm>
              <a:off x="1285" y="2243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g3f9982223f3_1_32"/>
            <p:cNvCxnSpPr/>
            <p:nvPr/>
          </p:nvCxnSpPr>
          <p:spPr>
            <a:xfrm flipH="1" rot="10800000">
              <a:off x="1275" y="1643"/>
              <a:ext cx="600" cy="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g3f9982223f3_1_32"/>
            <p:cNvCxnSpPr/>
            <p:nvPr/>
          </p:nvCxnSpPr>
          <p:spPr>
            <a:xfrm flipH="1" rot="10800000">
              <a:off x="1275" y="1642"/>
              <a:ext cx="2100" cy="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2" name="Google Shape;362;g3f9982223f3_1_32"/>
          <p:cNvGrpSpPr/>
          <p:nvPr/>
        </p:nvGrpSpPr>
        <p:grpSpPr>
          <a:xfrm>
            <a:off x="3242297" y="4880321"/>
            <a:ext cx="2476500" cy="592137"/>
            <a:chOff x="1163" y="3752"/>
            <a:chExt cx="1560" cy="373"/>
          </a:xfrm>
        </p:grpSpPr>
        <p:sp>
          <p:nvSpPr>
            <p:cNvPr id="363" name="Google Shape;363;g3f9982223f3_1_32"/>
            <p:cNvSpPr/>
            <p:nvPr/>
          </p:nvSpPr>
          <p:spPr>
            <a:xfrm>
              <a:off x="1163" y="3796"/>
              <a:ext cx="12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g3f9982223f3_1_32"/>
            <p:cNvSpPr txBox="1"/>
            <p:nvPr/>
          </p:nvSpPr>
          <p:spPr>
            <a:xfrm>
              <a:off x="1281" y="378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S: 128.119.40.186, 80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D: 138.76.29.7, 5001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5" name="Google Shape;365;g3f9982223f3_1_32"/>
            <p:cNvGrpSpPr/>
            <p:nvPr/>
          </p:nvGrpSpPr>
          <p:grpSpPr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366" name="Google Shape;366;g3f9982223f3_1_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" name="Google Shape;367;g3f9982223f3_1_32"/>
              <p:cNvCxnSpPr/>
              <p:nvPr/>
            </p:nvCxnSpPr>
            <p:spPr>
              <a:xfrm>
                <a:off x="5532" y="160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" name="Google Shape;368;g3f9982223f3_1_32"/>
              <p:cNvCxnSpPr/>
              <p:nvPr/>
            </p:nvCxnSpPr>
            <p:spPr>
              <a:xfrm>
                <a:off x="5556" y="1620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9" name="Google Shape;369;g3f9982223f3_1_32"/>
            <p:cNvGrpSpPr/>
            <p:nvPr/>
          </p:nvGrpSpPr>
          <p:grpSpPr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370" name="Google Shape;370;g3f9982223f3_1_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1" name="Google Shape;371;g3f9982223f3_1_32"/>
              <p:cNvCxnSpPr/>
              <p:nvPr/>
            </p:nvCxnSpPr>
            <p:spPr>
              <a:xfrm>
                <a:off x="5532" y="160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" name="Google Shape;372;g3f9982223f3_1_32"/>
              <p:cNvCxnSpPr/>
              <p:nvPr/>
            </p:nvCxnSpPr>
            <p:spPr>
              <a:xfrm>
                <a:off x="5556" y="1620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73" name="Google Shape;373;g3f9982223f3_1_32"/>
            <p:cNvCxnSpPr/>
            <p:nvPr/>
          </p:nvCxnSpPr>
          <p:spPr>
            <a:xfrm rot="10800000">
              <a:off x="2420" y="3931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374" name="Google Shape;374;g3f9982223f3_1_32"/>
            <p:cNvGrpSpPr/>
            <p:nvPr/>
          </p:nvGrpSpPr>
          <p:grpSpPr>
            <a:xfrm>
              <a:off x="2409" y="3815"/>
              <a:ext cx="314" cy="310"/>
              <a:chOff x="5140" y="400"/>
              <a:chExt cx="314" cy="310"/>
            </a:xfrm>
          </p:grpSpPr>
          <p:sp>
            <p:nvSpPr>
              <p:cNvPr id="375" name="Google Shape;375;g3f9982223f3_1_32"/>
              <p:cNvSpPr/>
              <p:nvPr/>
            </p:nvSpPr>
            <p:spPr>
              <a:xfrm>
                <a:off x="5140" y="410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g3f9982223f3_1_32"/>
              <p:cNvSpPr txBox="1"/>
              <p:nvPr/>
            </p:nvSpPr>
            <p:spPr>
              <a:xfrm>
                <a:off x="5154" y="400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sp>
        <p:nvSpPr>
          <p:cNvPr id="377" name="Google Shape;377;g3f9982223f3_1_32"/>
          <p:cNvSpPr txBox="1"/>
          <p:nvPr/>
        </p:nvSpPr>
        <p:spPr>
          <a:xfrm>
            <a:off x="3146424" y="5435532"/>
            <a:ext cx="355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reply arrives, destination address: 138.76.29.7, 5001</a:t>
            </a:r>
            <a:endParaRPr/>
          </a:p>
        </p:txBody>
      </p:sp>
      <p:sp>
        <p:nvSpPr>
          <p:cNvPr id="378" name="Google Shape;378;g3f9982223f3_1_32"/>
          <p:cNvSpPr txBox="1"/>
          <p:nvPr/>
        </p:nvSpPr>
        <p:spPr>
          <a:xfrm>
            <a:off x="9442128" y="3445831"/>
            <a:ext cx="8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10.0.0.1</a:t>
            </a:r>
            <a:endParaRPr/>
          </a:p>
        </p:txBody>
      </p:sp>
      <p:sp>
        <p:nvSpPr>
          <p:cNvPr id="379" name="Google Shape;379;g3f9982223f3_1_32"/>
          <p:cNvSpPr txBox="1"/>
          <p:nvPr/>
        </p:nvSpPr>
        <p:spPr>
          <a:xfrm>
            <a:off x="9387377" y="4139110"/>
            <a:ext cx="8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</a:t>
            </a:r>
            <a:endParaRPr/>
          </a:p>
        </p:txBody>
      </p:sp>
      <p:sp>
        <p:nvSpPr>
          <p:cNvPr id="380" name="Google Shape;380;g3f9982223f3_1_32"/>
          <p:cNvSpPr txBox="1"/>
          <p:nvPr/>
        </p:nvSpPr>
        <p:spPr>
          <a:xfrm>
            <a:off x="9361024" y="4861740"/>
            <a:ext cx="8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10.0.0.3</a:t>
            </a:r>
            <a:endParaRPr/>
          </a:p>
        </p:txBody>
      </p:sp>
      <p:grpSp>
        <p:nvGrpSpPr>
          <p:cNvPr id="381" name="Google Shape;381;g3f9982223f3_1_32"/>
          <p:cNvGrpSpPr/>
          <p:nvPr/>
        </p:nvGrpSpPr>
        <p:grpSpPr>
          <a:xfrm flipH="1">
            <a:off x="10194143" y="3285987"/>
            <a:ext cx="641350" cy="558822"/>
            <a:chOff x="-44" y="1473"/>
            <a:chExt cx="981" cy="1105"/>
          </a:xfrm>
        </p:grpSpPr>
        <p:pic>
          <p:nvPicPr>
            <p:cNvPr descr="desktop_computer_stylized_medium" id="382" name="Google Shape;382;g3f9982223f3_1_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g3f9982223f3_1_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g3f9982223f3_1_32"/>
          <p:cNvGrpSpPr/>
          <p:nvPr/>
        </p:nvGrpSpPr>
        <p:grpSpPr>
          <a:xfrm flipH="1">
            <a:off x="10120943" y="3976903"/>
            <a:ext cx="641350" cy="558822"/>
            <a:chOff x="-44" y="1473"/>
            <a:chExt cx="981" cy="1105"/>
          </a:xfrm>
        </p:grpSpPr>
        <p:pic>
          <p:nvPicPr>
            <p:cNvPr descr="desktop_computer_stylized_medium" id="385" name="Google Shape;385;g3f9982223f3_1_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g3f9982223f3_1_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g3f9982223f3_1_32"/>
          <p:cNvGrpSpPr/>
          <p:nvPr/>
        </p:nvGrpSpPr>
        <p:grpSpPr>
          <a:xfrm flipH="1">
            <a:off x="10140169" y="4685809"/>
            <a:ext cx="641350" cy="558822"/>
            <a:chOff x="-44" y="1473"/>
            <a:chExt cx="981" cy="1105"/>
          </a:xfrm>
        </p:grpSpPr>
        <p:pic>
          <p:nvPicPr>
            <p:cNvPr descr="desktop_computer_stylized_medium" id="388" name="Google Shape;388;g3f9982223f3_1_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g3f9982223f3_1_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0" name="Google Shape;390;g3f9982223f3_1_32"/>
          <p:cNvCxnSpPr/>
          <p:nvPr/>
        </p:nvCxnSpPr>
        <p:spPr>
          <a:xfrm>
            <a:off x="9963568" y="3732745"/>
            <a:ext cx="29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g3f9982223f3_1_32"/>
          <p:cNvCxnSpPr/>
          <p:nvPr/>
        </p:nvCxnSpPr>
        <p:spPr>
          <a:xfrm>
            <a:off x="9891178" y="4418545"/>
            <a:ext cx="29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g3f9982223f3_1_32"/>
          <p:cNvCxnSpPr/>
          <p:nvPr/>
        </p:nvCxnSpPr>
        <p:spPr>
          <a:xfrm>
            <a:off x="9910228" y="5134825"/>
            <a:ext cx="29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93" name="Google Shape;393;g3f9982223f3_1_32"/>
          <p:cNvGrpSpPr/>
          <p:nvPr/>
        </p:nvGrpSpPr>
        <p:grpSpPr>
          <a:xfrm>
            <a:off x="3937596" y="4333663"/>
            <a:ext cx="3034854" cy="303571"/>
            <a:chOff x="2454675" y="2927525"/>
            <a:chExt cx="4705200" cy="429318"/>
          </a:xfrm>
        </p:grpSpPr>
        <p:cxnSp>
          <p:nvCxnSpPr>
            <p:cNvPr id="394" name="Google Shape;394;g3f9982223f3_1_32"/>
            <p:cNvCxnSpPr/>
            <p:nvPr/>
          </p:nvCxnSpPr>
          <p:spPr>
            <a:xfrm>
              <a:off x="2454675" y="3124940"/>
              <a:ext cx="47052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95" name="Google Shape;395;g3f9982223f3_1_32"/>
            <p:cNvGrpSpPr/>
            <p:nvPr/>
          </p:nvGrpSpPr>
          <p:grpSpPr>
            <a:xfrm>
              <a:off x="5427506" y="2927525"/>
              <a:ext cx="1046424" cy="429318"/>
              <a:chOff x="7493876" y="2774731"/>
              <a:chExt cx="1490420" cy="890885"/>
            </a:xfrm>
          </p:grpSpPr>
          <p:sp>
            <p:nvSpPr>
              <p:cNvPr id="396" name="Google Shape;396;g3f9982223f3_1_32"/>
              <p:cNvSpPr/>
              <p:nvPr/>
            </p:nvSpPr>
            <p:spPr>
              <a:xfrm>
                <a:off x="7493876" y="3084399"/>
                <a:ext cx="1490420" cy="58121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" name="Google Shape;397;g3f9982223f3_1_32"/>
              <p:cNvSpPr/>
              <p:nvPr/>
            </p:nvSpPr>
            <p:spPr>
              <a:xfrm>
                <a:off x="7494729" y="2774731"/>
                <a:ext cx="1480200" cy="57900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" name="Google Shape;398;g3f9982223f3_1_32"/>
              <p:cNvGrpSpPr/>
              <p:nvPr/>
            </p:nvGrpSpPr>
            <p:grpSpPr>
              <a:xfrm>
                <a:off x="7713435" y="2848414"/>
                <a:ext cx="1043670" cy="423496"/>
                <a:chOff x="7786941" y="2884917"/>
                <a:chExt cx="899018" cy="352209"/>
              </a:xfrm>
            </p:grpSpPr>
            <p:sp>
              <p:nvSpPr>
                <p:cNvPr id="399" name="Google Shape;399;g3f9982223f3_1_32"/>
                <p:cNvSpPr/>
                <p:nvPr/>
              </p:nvSpPr>
              <p:spPr>
                <a:xfrm>
                  <a:off x="7811770" y="2884917"/>
                  <a:ext cx="852825" cy="196850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g3f9982223f3_1_32"/>
                <p:cNvSpPr/>
                <p:nvPr/>
              </p:nvSpPr>
              <p:spPr>
                <a:xfrm>
                  <a:off x="8367548" y="3054383"/>
                  <a:ext cx="318411" cy="16947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g3f9982223f3_1_32"/>
                <p:cNvSpPr/>
                <p:nvPr/>
              </p:nvSpPr>
              <p:spPr>
                <a:xfrm>
                  <a:off x="7786941" y="3054383"/>
                  <a:ext cx="312657" cy="167509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g3f9982223f3_1_32"/>
                <p:cNvSpPr/>
                <p:nvPr/>
              </p:nvSpPr>
              <p:spPr>
                <a:xfrm>
                  <a:off x="7895013" y="2971083"/>
                  <a:ext cx="679816" cy="26604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cxnSp>
        <p:nvCxnSpPr>
          <p:cNvPr id="403" name="Google Shape;403;g3f9982223f3_1_32"/>
          <p:cNvCxnSpPr/>
          <p:nvPr/>
        </p:nvCxnSpPr>
        <p:spPr>
          <a:xfrm rot="10800000">
            <a:off x="5701553" y="4503473"/>
            <a:ext cx="0" cy="27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4" name="Google Shape;404;g3f9982223f3_1_32"/>
          <p:cNvCxnSpPr/>
          <p:nvPr/>
        </p:nvCxnSpPr>
        <p:spPr>
          <a:xfrm>
            <a:off x="6577649" y="4166958"/>
            <a:ext cx="0" cy="27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g3f9982223f3_1_32"/>
          <p:cNvSpPr txBox="1"/>
          <p:nvPr>
            <p:ph idx="4294967295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9982223f3_1_2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Networking and Cloud?</a:t>
            </a:r>
            <a:endParaRPr/>
          </a:p>
        </p:txBody>
      </p:sp>
      <p:graphicFrame>
        <p:nvGraphicFramePr>
          <p:cNvPr id="412" name="Google Shape;412;g3f9982223f3_1_222"/>
          <p:cNvGraphicFramePr/>
          <p:nvPr/>
        </p:nvGraphicFramePr>
        <p:xfrm>
          <a:off x="1320500" y="20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{9D42AFE7-56E8-4151-931B-465EAAADE7D5}</a:tableStyleId>
              </a:tblPr>
              <a:tblGrid>
                <a:gridCol w="4090300"/>
                <a:gridCol w="5159625"/>
              </a:tblGrid>
              <a:tr h="33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Core Network Concept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Cloud Computing Application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CIDR &amp; RFC 1918 Private IPs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VPC / VNet IP range allocation and subnet design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Layer 4 vs. Layer 7 Routing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Network Load Balancers (TCP/UDP) vs. Application Load Balancers (HTTP/S)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Stateful Firewalls vs. Stateless ACLs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Security Groups (instance-level) vs. Network ACLs (subnet-level)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NAT &amp; Default Gateways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NAT Gateways enabling outbound internet access for private instances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DNS Records, CNAME, &amp; TTL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Cloud DNS, latency-based routing, and service discovery endpoints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IPsec VPN &amp; Dedicated Peering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Site-to-Site VPN, AWS DirectConnect, or Azure ExpressRoute hybrid connectivity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6c8cc9a9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is NAT in the Cloud?</a:t>
            </a:r>
            <a:endParaRPr/>
          </a:p>
        </p:txBody>
      </p:sp>
      <p:graphicFrame>
        <p:nvGraphicFramePr>
          <p:cNvPr id="419" name="Google Shape;419;g3f6c8cc9a9c_0_0"/>
          <p:cNvGraphicFramePr/>
          <p:nvPr/>
        </p:nvGraphicFramePr>
        <p:xfrm>
          <a:off x="963275" y="184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{9D42AFE7-56E8-4151-931B-465EAAADE7D5}</a:tableStyleId>
              </a:tblPr>
              <a:tblGrid>
                <a:gridCol w="1904575"/>
                <a:gridCol w="2199950"/>
                <a:gridCol w="1619400"/>
                <a:gridCol w="2250875"/>
                <a:gridCol w="1609225"/>
              </a:tblGrid>
              <a:tr h="248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Architectural Location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Implementation Level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NAT Type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Primary Function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Cloud Feature Examples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85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Public Subnet Edge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Managed Gateway Service in Public Subnet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SNAT / PAT (Many-to-One)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Provides outbound-only internet connectivity for private subnet resources while blocking inbound connections.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AWS NAT Gateway, Azure NAT Gateway, GCP Cloud NAT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Cloud Hypervisor (SDN)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Hypervisor / Host Network Virtualization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1:1 Static NAT (Bi-directional)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Maps an external public IP directly to an instance's internal private IP at the hypervisor boundary.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AWS Elastic IP, Azure Public IP, GCP External IP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Transit Hub / Inter-VPC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Cloud Transit Gateway or Virtual Firewall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Private NAT (SNAT &amp; DNAT)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Translates private source/destination addresses to resolve overlapping RFC 1918 ranges in hybrid or VPC-peered networks.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AWS Transit Gateway NAT, GCP Private NAT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Container / Kubernetes Node 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Node Kernel Level (iptables / eBPF)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SNAT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Translates non-routable Pod IPs to the host VM's private IP when traffic exits the Kubernetes cluster.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ip-masq-agent, Calico, Cilium, Docker Bridge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2026-03-13T04:18:50Z</dcterms:created>
  <dc:creator>Microsoft Office User</dc:creator>
</cp:coreProperties>
</file>